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00054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000054"/>
                </a:solidFill>
                <a:latin typeface="Calibri"/>
              </a:rPr>
              <a:t>Portable app, by size (MB)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Portable app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3C3C44"/>
              </a:solidFill>
              <a:effectLst/>
            </c:spPr>
          </c:dPt>
          <c:dPt>
            <c:idx val="1"/>
            <c:bubble3D val="0"/>
            <c:spPr>
              <a:solidFill>
                <a:srgbClr val="E61E2A"/>
              </a:solidFill>
              <a:effectLst/>
            </c:spPr>
          </c:dPt>
          <c:dLbls>
            <c:dLbl>
              <c:idx val="0"/>
              <c:numFmt formatCode="0&quot; MB&quot;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0&quot; MB&quot;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&quot; MB&quot;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Electron / Chromium runtime</c:v>
                </c:pt>
                <c:pt idx="1">
                  <c:v>Adflow itself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269</c:v>
                </c:pt>
                <c:pt idx="1">
                  <c:v>20</c:v>
                </c:pt>
              </c:numCache>
            </c:numRef>
          </c:val>
        </c:ser>
        <c:firstSliceAng val="0"/>
        <c:holeSize val="58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5555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Aim of the session: agree that Adflow can be reviewed and deployed. Two substantive questions only — the bundled Chromium runtime and code signing. Everything else is unusually simple: no backend, no accounts, no network traffic.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three "no"s are what make the review short. Most of what a security team normally has to assess — authentication, data at rest on a server, API surface, egress — simply does not exist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this slide if time is short. The "no build step" point is worth dwelling on — very little commercial software can offer it, and it removes the usual supply-chain question about whether the shipped bundle matches the published source.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 bundled runtime becomes a sticking point, the third column is the fallback: the same application inside the browser ITS already patches, with no Chromium of our own to maintain.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There is no data-retention or data-residency question to answer, because no institutional system ever holds this data. It is the same posture as a local image editor.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Security teams distrust Electron apps largely because they typically ship telemetry and an update channel. This one has neither — worth saying plainly rather than letting them find out by asking.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Expect the runtime size to prompt a question. The answer is that it is a browser engine, the same one already approved on the fleet, and the next slide covers the obligation that comes with bundling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 scan is run it will report the 14. The distinction is real: those packages build the app and are not inside it. DEPENDENCIES.md documents both scopes and how to verify each checksum.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soften this. Raising it ourselves is what makes it a managed risk rather than an oversight discovered during the review. The fallback in the red band is genuine and costs nothing to take.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licence body in the notices file is the genuine text fetched from each project’s own repository, not retyped, so it cannot drift from what they publish.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second ask — the certificate is the only thing that needs budget, and it is the one item that visibly improves the experience for every member of staff.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nguye\AppData\Local\Temp\claude\E--WORK-OFFLINE-apps-Adflow\c4dbe0b3-8f3b-4a26-ba73-6ba5f8057916\scratchpad\brand\pixel-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32520" y="1143000"/>
            <a:ext cx="4434840" cy="4331360"/>
          </a:xfrm>
          <a:prstGeom prst="rect">
            <a:avLst/>
          </a:prstGeom>
        </p:spPr>
      </p:pic>
      <p:pic>
        <p:nvPicPr>
          <p:cNvPr id="3" name="Image 1" descr="C:\Users\nguye\AppData\Local\Temp\claude\E--WORK-OFFLINE-apps-Adflow\c4dbe0b3-8f3b-4a26-ba73-6ba5f8057916\scratchpad\brand\adflow-word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777240"/>
            <a:ext cx="3931920" cy="509511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822960" y="2514600"/>
            <a:ext cx="7680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 and</a:t>
            </a:r>
            <a:endParaRPr lang="en-US" sz="4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Security Review</a:t>
            </a:r>
            <a:endParaRPr lang="en-US" sz="4400" dirty="0"/>
          </a:p>
        </p:txBody>
      </p:sp>
      <p:sp>
        <p:nvSpPr>
          <p:cNvPr id="5" name="Text 1"/>
          <p:cNvSpPr txBox="1"/>
          <p:nvPr/>
        </p:nvSpPr>
        <p:spPr>
          <a:xfrm>
            <a:off x="822960" y="470916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AFB2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in-house tool for producing HTML5 display advertising.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AFB2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RMIT ITS.</a:t>
            </a:r>
            <a:endParaRPr lang="en-US" sz="1500" dirty="0"/>
          </a:p>
        </p:txBody>
      </p:sp>
      <p:sp>
        <p:nvSpPr>
          <p:cNvPr id="6" name="Text 2"/>
          <p:cNvSpPr txBox="1"/>
          <p:nvPr/>
        </p:nvSpPr>
        <p:spPr>
          <a:xfrm>
            <a:off x="822960" y="58978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0.61.1  ·  Local edition  ·  September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14630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61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IS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4114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000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design tool that runs entirely on the user’s machine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18872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6C6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 staff build animated HTML5 display ads across every banner size at once, then export ad-network-compliant packages. It replaces licensed desktop software in that workflow.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94360" y="2148840"/>
            <a:ext cx="10881360" cy="1133856"/>
          </a:xfrm>
          <a:prstGeom prst="roundRect">
            <a:avLst>
              <a:gd name="adj" fmla="val 4839"/>
            </a:avLst>
          </a:prstGeom>
          <a:solidFill>
            <a:srgbClr val="F4F5F9"/>
          </a:solidFill>
          <a:ln w="9525">
            <a:solidFill>
              <a:srgbClr val="D8DA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523744"/>
            <a:ext cx="384048" cy="384048"/>
          </a:xfrm>
          <a:prstGeom prst="ellipse">
            <a:avLst/>
          </a:prstGeom>
          <a:solidFill>
            <a:srgbClr val="E61E2A"/>
          </a:solidFill>
          <a:ln w="12700">
            <a:solidFill>
              <a:srgbClr val="E61E2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25237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481328" y="2350008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backend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481328" y="269748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C6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accounts, no database, no server-side code. The hosted backend was removed entirely in v0.60.0.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94360" y="3447288"/>
            <a:ext cx="10881360" cy="1133856"/>
          </a:xfrm>
          <a:prstGeom prst="roundRect">
            <a:avLst>
              <a:gd name="adj" fmla="val 4839"/>
            </a:avLst>
          </a:prstGeom>
          <a:solidFill>
            <a:srgbClr val="F4F5F9"/>
          </a:solidFill>
          <a:ln w="9525">
            <a:solidFill>
              <a:srgbClr val="D8DAE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3822192"/>
            <a:ext cx="384048" cy="384048"/>
          </a:xfrm>
          <a:prstGeom prst="ellipse">
            <a:avLst/>
          </a:prstGeom>
          <a:solidFill>
            <a:srgbClr val="E61E2A"/>
          </a:solidFill>
          <a:ln w="12700">
            <a:solidFill>
              <a:srgbClr val="E61E2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822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481328" y="3648456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installation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481328" y="3995928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C6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desktop app is a folder. No registry writes, no admin rights, no Program Files.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94360" y="4745736"/>
            <a:ext cx="10881360" cy="1133856"/>
          </a:xfrm>
          <a:prstGeom prst="roundRect">
            <a:avLst>
              <a:gd name="adj" fmla="val 4839"/>
            </a:avLst>
          </a:prstGeom>
          <a:solidFill>
            <a:srgbClr val="F4F5F9"/>
          </a:solidFill>
          <a:ln w="9525">
            <a:solidFill>
              <a:srgbClr val="D8DAE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5120640"/>
            <a:ext cx="384048" cy="384048"/>
          </a:xfrm>
          <a:prstGeom prst="ellipse">
            <a:avLst/>
          </a:prstGeom>
          <a:solidFill>
            <a:srgbClr val="E61E2A"/>
          </a:solidFill>
          <a:ln w="12700">
            <a:solidFill>
              <a:srgbClr val="E61E2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4400" y="5120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481328" y="4946904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network traffic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481328" y="5294376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C6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uploaded, and nothing is fetched from the internet at runtime.</a:t>
            </a:r>
            <a:endParaRPr lang="en-US" sz="1250" dirty="0"/>
          </a:p>
        </p:txBody>
      </p:sp>
      <p:pic>
        <p:nvPicPr>
          <p:cNvPr id="20" name="Image 0" descr="C:\Users\nguye\AppData\Local\Temp\claude\E--WORK-OFFLINE-apps-Adflow\c4dbe0b3-8f3b-4a26-ba73-6ba5f8057916\scratchpad\brand\rmit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6272784"/>
            <a:ext cx="841248" cy="292033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1572768" y="630936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9F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Adflow  ·  v0.61.1  ·  ITS review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11064240" y="630936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9F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14630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61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A GLANCE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4114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000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numbers that matter for review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94360" y="2057400"/>
            <a:ext cx="2615184" cy="1783080"/>
          </a:xfrm>
          <a:prstGeom prst="roundRect">
            <a:avLst>
              <a:gd name="adj" fmla="val 3077"/>
            </a:avLst>
          </a:prstGeom>
          <a:solidFill>
            <a:srgbClr val="F4F5F9"/>
          </a:solidFill>
          <a:ln w="9525">
            <a:solidFill>
              <a:srgbClr val="D8DAE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86968" y="2212848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1F7A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886968" y="30175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C6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Outbound network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C6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connections at runtime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364992" y="2057400"/>
            <a:ext cx="2615184" cy="1783080"/>
          </a:xfrm>
          <a:prstGeom prst="roundRect">
            <a:avLst>
              <a:gd name="adj" fmla="val 3077"/>
            </a:avLst>
          </a:prstGeom>
          <a:solidFill>
            <a:srgbClr val="F4F5F9"/>
          </a:solidFill>
          <a:ln w="9525">
            <a:solidFill>
              <a:srgbClr val="D8DA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657600" y="2212848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1F7A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600" dirty="0"/>
          </a:p>
        </p:txBody>
      </p:sp>
      <p:sp>
        <p:nvSpPr>
          <p:cNvPr id="9" name="Text 7"/>
          <p:cNvSpPr txBox="1"/>
          <p:nvPr/>
        </p:nvSpPr>
        <p:spPr>
          <a:xfrm>
            <a:off x="3657600" y="30175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C6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Vulnerabilities in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C6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shipped dependencies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135624" y="2057400"/>
            <a:ext cx="2615184" cy="1783080"/>
          </a:xfrm>
          <a:prstGeom prst="roundRect">
            <a:avLst>
              <a:gd name="adj" fmla="val 3077"/>
            </a:avLst>
          </a:prstGeom>
          <a:solidFill>
            <a:srgbClr val="F4F5F9"/>
          </a:solidFill>
          <a:ln w="9525">
            <a:solidFill>
              <a:srgbClr val="D8DAE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28232" y="2212848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0000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4600" dirty="0"/>
          </a:p>
        </p:txBody>
      </p:sp>
      <p:sp>
        <p:nvSpPr>
          <p:cNvPr id="12" name="Text 10"/>
          <p:cNvSpPr txBox="1"/>
          <p:nvPr/>
        </p:nvSpPr>
        <p:spPr>
          <a:xfrm>
            <a:off x="6428232" y="30175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C6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Third-party libraries,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C6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checksummed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906256" y="2057400"/>
            <a:ext cx="2615184" cy="1783080"/>
          </a:xfrm>
          <a:prstGeom prst="roundRect">
            <a:avLst>
              <a:gd name="adj" fmla="val 3077"/>
            </a:avLst>
          </a:prstGeom>
          <a:solidFill>
            <a:srgbClr val="F4F5F9"/>
          </a:solidFill>
          <a:ln w="9525">
            <a:solidFill>
              <a:srgbClr val="D8DAE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98864" y="2212848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0000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55k</a:t>
            </a:r>
            <a:endParaRPr lang="en-US" sz="4600" dirty="0"/>
          </a:p>
        </p:txBody>
      </p:sp>
      <p:sp>
        <p:nvSpPr>
          <p:cNvPr id="15" name="Text 13"/>
          <p:cNvSpPr txBox="1"/>
          <p:nvPr/>
        </p:nvSpPr>
        <p:spPr>
          <a:xfrm>
            <a:off x="9198864" y="30175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C6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Lines of first-party code,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C6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it minified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94360" y="4114800"/>
            <a:ext cx="10881360" cy="1783080"/>
          </a:xfrm>
          <a:prstGeom prst="roundRect">
            <a:avLst>
              <a:gd name="adj" fmla="val 3077"/>
            </a:avLst>
          </a:prstGeom>
          <a:solidFill>
            <a:srgbClr val="000054"/>
          </a:solidFill>
          <a:ln w="9525">
            <a:solidFill>
              <a:srgbClr val="D8DAE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60120" y="4370832"/>
            <a:ext cx="10149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61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single most useful fact for a code review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960120" y="4754880"/>
            <a:ext cx="10149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DCD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build step. No bundler, no transpiler, no minifier is applied to our own code — so the file in the repository is byte-for-byte the file that executes. A reviewer reads exactly what runs, with no pipeline to trust and no bundle to reverse.</a:t>
            </a:r>
            <a:endParaRPr lang="en-US" sz="1450" dirty="0"/>
          </a:p>
        </p:txBody>
      </p:sp>
      <p:pic>
        <p:nvPicPr>
          <p:cNvPr id="19" name="Image 0" descr="C:\Users\nguye\AppData\Local\Temp\claude\E--WORK-OFFLINE-apps-Adflow\c4dbe0b3-8f3b-4a26-ba73-6ba5f8057916\scratchpad\brand\rmit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6272784"/>
            <a:ext cx="841248" cy="292033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572768" y="630936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9F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Adflow  ·  v0.61.1  ·  ITS review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11064240" y="630936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9F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14630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61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4114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000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application, three ways to deliver it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18872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6C6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application code is byte-identical in all three. Only the delivery differs, so a review of the code covers every option.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94360" y="2103120"/>
            <a:ext cx="3538728" cy="3520440"/>
          </a:xfrm>
          <a:prstGeom prst="roundRect">
            <a:avLst>
              <a:gd name="adj" fmla="val 1558"/>
            </a:avLst>
          </a:prstGeom>
          <a:solidFill>
            <a:srgbClr val="000054"/>
          </a:solidFill>
          <a:ln w="9525">
            <a:solidFill>
              <a:srgbClr val="D8DAE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23774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Portable app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7432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E61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for staff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3108960"/>
            <a:ext cx="29260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D6D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folder holding the app and its runtime</a:t>
            </a:r>
            <a:endParaRPr lang="en-US" sz="120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D6D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installed, no admin rights</a:t>
            </a:r>
            <a:endParaRPr lang="en-US" sz="120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D6D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with no network at all</a:t>
            </a:r>
            <a:endParaRPr lang="en-US" sz="120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D6D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288 MB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270248" y="2103120"/>
            <a:ext cx="3538728" cy="3520440"/>
          </a:xfrm>
          <a:prstGeom prst="roundRect">
            <a:avLst>
              <a:gd name="adj" fmla="val 1558"/>
            </a:avLst>
          </a:prstGeom>
          <a:solidFill>
            <a:srgbClr val="F4F5F9"/>
          </a:solidFill>
          <a:ln w="9525">
            <a:solidFill>
              <a:srgbClr val="D8DAE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90288" y="23774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Container</a:t>
            </a:r>
            <a:endParaRPr lang="en-US" sz="2100" dirty="0"/>
          </a:p>
        </p:txBody>
      </p:sp>
      <p:sp>
        <p:nvSpPr>
          <p:cNvPr id="11" name="Text 9"/>
          <p:cNvSpPr txBox="1"/>
          <p:nvPr/>
        </p:nvSpPr>
        <p:spPr>
          <a:xfrm>
            <a:off x="4590288" y="27432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C6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internal hosting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90288" y="3108960"/>
            <a:ext cx="29260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555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nginx, unprivileged, read-only filesystem</a:t>
            </a:r>
            <a:endParaRPr lang="en-US" sz="120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555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Serves the same static files</a:t>
            </a:r>
            <a:endParaRPr lang="en-US" sz="120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555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port, health endpoint</a:t>
            </a:r>
            <a:endParaRPr lang="en-US" sz="120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555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109 MB image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946136" y="2103120"/>
            <a:ext cx="3538728" cy="3520440"/>
          </a:xfrm>
          <a:prstGeom prst="roundRect">
            <a:avLst>
              <a:gd name="adj" fmla="val 1558"/>
            </a:avLst>
          </a:prstGeom>
          <a:solidFill>
            <a:srgbClr val="F4F5F9"/>
          </a:solidFill>
          <a:ln w="9525">
            <a:solidFill>
              <a:srgbClr val="D8DAE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66176" y="23774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Static hosting</a:t>
            </a:r>
            <a:endParaRPr lang="en-US" sz="2100" dirty="0"/>
          </a:p>
        </p:txBody>
      </p:sp>
      <p:sp>
        <p:nvSpPr>
          <p:cNvPr id="15" name="Text 13"/>
          <p:cNvSpPr txBox="1"/>
          <p:nvPr/>
        </p:nvSpPr>
        <p:spPr>
          <a:xfrm>
            <a:off x="8266176" y="27432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C6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web server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266176" y="3108960"/>
            <a:ext cx="29260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555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files over HTTPS</a:t>
            </a:r>
            <a:endParaRPr lang="en-US" sz="120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555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in the browser ITS already manages</a:t>
            </a:r>
            <a:endParaRPr lang="en-US" sz="120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555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runtime to patch separately</a:t>
            </a:r>
            <a:endParaRPr lang="en-US" sz="120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555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MB</a:t>
            </a:r>
            <a:endParaRPr lang="en-US" sz="1200" dirty="0"/>
          </a:p>
        </p:txBody>
      </p:sp>
      <p:pic>
        <p:nvPicPr>
          <p:cNvPr id="17" name="Image 0" descr="C:\Users\nguye\AppData\Local\Temp\claude\E--WORK-OFFLINE-apps-Adflow\c4dbe0b3-8f3b-4a26-ba73-6ba5f8057916\scratchpad\brand\rmit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6272784"/>
            <a:ext cx="841248" cy="292033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572768" y="630936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9F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Adflow  ·  v0.61.1  ·  ITS review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>
            <a:off x="11064240" y="630936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9F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14630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61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4114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000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Everything stays on the user’s machine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18872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6C6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institutional system holding any of it, so no retention or residency question arises.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20240"/>
          <a:ext cx="10881360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576072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127000" marB="127000" anchor="ctr">
                    <a:lnL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5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 it lives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127000" marB="127000" anchor="ctr">
                    <a:lnL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5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 in progress, recent projects, preferences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127000" marB="127000" anchor="ctr">
                    <a:lnL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app’s own local storage, on that machine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127000" marB="127000" anchor="ctr">
                    <a:lnL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Projects the user chooses to keep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127000" marB="127000" anchor="ctr">
                    <a:lnL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.flow files, wherever the user saves them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127000" marB="127000" anchor="ctr">
                    <a:lnL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Exported ads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127000" marB="127000" anchor="ctr">
                    <a:lnL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ZIP, PNG, MP4 or GIF files, wherever the user saves them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127000" marB="127000" anchor="ctr">
                    <a:lnL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4360" y="3977640"/>
            <a:ext cx="5321808" cy="1737360"/>
          </a:xfrm>
          <a:prstGeom prst="roundRect">
            <a:avLst>
              <a:gd name="adj" fmla="val 3158"/>
            </a:avLst>
          </a:prstGeom>
          <a:solidFill>
            <a:srgbClr val="F4F5F9"/>
          </a:solidFill>
          <a:ln w="9525">
            <a:solidFill>
              <a:srgbClr val="D8DAE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60120" y="42062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telemetry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4553712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C6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analytics, no crash reporting, no licence check and no usage tracking anywhere in the codebase.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153912" y="3977640"/>
            <a:ext cx="5321808" cy="1737360"/>
          </a:xfrm>
          <a:prstGeom prst="roundRect">
            <a:avLst>
              <a:gd name="adj" fmla="val 3158"/>
            </a:avLst>
          </a:prstGeom>
          <a:solidFill>
            <a:srgbClr val="F4F5F9"/>
          </a:solidFill>
          <a:ln w="9525">
            <a:solidFill>
              <a:srgbClr val="D8DAE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519672" y="42062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to clean up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6519672" y="4553712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C6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Deleting the folder removes the application. Clearing its local data removes everything it holds.</a:t>
            </a:r>
            <a:endParaRPr lang="en-US" sz="1250" dirty="0"/>
          </a:p>
        </p:txBody>
      </p:sp>
      <p:pic>
        <p:nvPicPr>
          <p:cNvPr id="12" name="Image 0" descr="C:\Users\nguye\AppData\Local\Temp\claude\E--WORK-OFFLINE-apps-Adflow\c4dbe0b3-8f3b-4a26-ba73-6ba5f8057916\scratchpad\brand\rmit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6272784"/>
            <a:ext cx="841248" cy="292033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572768" y="630936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9F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Adflow  ·  v0.61.1  ·  ITS review</a:t>
            </a:r>
            <a:endParaRPr lang="en-US" sz="900" dirty="0"/>
          </a:p>
        </p:txBody>
      </p:sp>
      <p:sp>
        <p:nvSpPr>
          <p:cNvPr id="14" name="Text 10"/>
          <p:cNvSpPr txBox="1"/>
          <p:nvPr/>
        </p:nvSpPr>
        <p:spPr>
          <a:xfrm>
            <a:off x="11064240" y="630936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9F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14630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61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4114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000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listening port, bound to loopback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18872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6C6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desktop app serves its own files to itself so the ad previews get a real web origin. That server is the only network component.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2148840"/>
          <a:ext cx="1088136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676656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Question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127000" marB="127000" anchor="ctr">
                    <a:lnL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5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Answer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127000" marB="127000" anchor="ctr">
                    <a:lnL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5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3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Outbound connections at runtime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127000" marB="127000" anchor="ctr">
                    <a:lnL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3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None. The only host contacted is 127.0.0.1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127000" marB="127000" anchor="ctr">
                    <a:lnL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3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Listening ports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127000" marB="127000" anchor="ctr">
                    <a:lnL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3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One, on 127.0.0.1:47823 — verified unreachable from the machine’s LAN address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127000" marB="127000" anchor="ctr">
                    <a:lnL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3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Auto-update channel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127000" marB="127000" anchor="ctr">
                    <a:lnL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3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None. Updates are a new folder, handed over deliberately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127000" marB="127000" anchor="ctr">
                    <a:lnL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3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Third-party CDNs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127000" marB="127000" anchor="ctr">
                    <a:lnL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3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None. Every library and font is served from inside the app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127000" marB="127000" anchor="ctr">
                    <a:lnL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3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Internet required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127000" marB="127000" anchor="ctr">
                    <a:lnL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3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No. Fully functional with no connectivity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127000" marB="127000" anchor="ctr">
                    <a:lnL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94360" y="52120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i="1" dirty="0">
                <a:solidFill>
                  <a:srgbClr val="6C6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internal server is read-only, serves an explicit allow-list of eight paths, and rejects directory traversal. External links open in the user’s normal browser, not inside the app.</a:t>
            </a:r>
            <a:endParaRPr lang="en-US" sz="1250" dirty="0"/>
          </a:p>
        </p:txBody>
      </p:sp>
      <p:pic>
        <p:nvPicPr>
          <p:cNvPr id="7" name="Image 0" descr="C:\Users\nguye\AppData\Local\Temp\claude\E--WORK-OFFLINE-apps-Adflow\c4dbe0b3-8f3b-4a26-ba73-6ba5f8057916\scratchpad\brand\rmit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6272784"/>
            <a:ext cx="841248" cy="29203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72768" y="630936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9F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Adflow  ·  v0.61.1  ·  ITS review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11064240" y="630936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9F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14630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61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4114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000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actually in the 288 MB</a:t>
            </a:r>
            <a:endParaRPr lang="en-US" sz="3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828800"/>
          <a:ext cx="493776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943600" y="2304288"/>
            <a:ext cx="201168" cy="201168"/>
          </a:xfrm>
          <a:prstGeom prst="ellipse">
            <a:avLst/>
          </a:prstGeom>
          <a:solidFill>
            <a:srgbClr val="E61E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309360" y="224028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0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Adflow itself — 20 MB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309360" y="2569464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C6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Unminified source, identical to the repository. Fully reviewable.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943600" y="3675888"/>
            <a:ext cx="201168" cy="201168"/>
          </a:xfrm>
          <a:prstGeom prst="ellipse">
            <a:avLst/>
          </a:prstGeom>
          <a:solidFill>
            <a:srgbClr val="3C3C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309360" y="361188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0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— 269 MB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309360" y="3941064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C6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Chromium engine already trusted in Chrome and Edge. Not reviewable line by line, and nobody reviews it that way.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5943600" y="5074920"/>
            <a:ext cx="5532120" cy="777240"/>
          </a:xfrm>
          <a:prstGeom prst="roundRect">
            <a:avLst>
              <a:gd name="adj" fmla="val 7059"/>
            </a:avLst>
          </a:prstGeom>
          <a:solidFill>
            <a:srgbClr val="F4F5F9"/>
          </a:solidFill>
          <a:ln w="9525">
            <a:solidFill>
              <a:srgbClr val="D8DAE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263640" y="525780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00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application layer is 7% of the bundle and 100% of what we wrote.</a:t>
            </a:r>
            <a:endParaRPr lang="en-US" sz="1300" dirty="0"/>
          </a:p>
        </p:txBody>
      </p:sp>
      <p:pic>
        <p:nvPicPr>
          <p:cNvPr id="13" name="Image 0" descr="C:\Users\nguye\AppData\Local\Temp\claude\E--WORK-OFFLINE-apps-Adflow\c4dbe0b3-8f3b-4a26-ba73-6ba5f8057916\scratchpad\brand\rmit-fu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272784"/>
            <a:ext cx="841248" cy="292033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572768" y="630936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9F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Adflow  ·  v0.61.1  ·  ITS review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11064240" y="630936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9F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14630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61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CHAIN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4114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000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libraries, each pinned to a checksum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18872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6C6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are committed to the repository rather than fetched from a CDN, so the application cannot change underneath us and works offline.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2103120"/>
          <a:ext cx="108813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828800"/>
                <a:gridCol w="1737360"/>
                <a:gridCol w="50292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Library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5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5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Licence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5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Used for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5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JSZip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3.10.1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 files and export packages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iro.js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5.5.2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MPL-2.0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Colour picker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mediabunny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1.52.2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MPL-2.0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Video export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gifenc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1.0.3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GIF export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harfbuzzjs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 checksum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Font subsetting at export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4360" y="4892040"/>
            <a:ext cx="5321808" cy="1005840"/>
          </a:xfrm>
          <a:prstGeom prst="roundRect">
            <a:avLst>
              <a:gd name="adj" fmla="val 5455"/>
            </a:avLst>
          </a:prstGeom>
          <a:solidFill>
            <a:srgbClr val="F4F5F9"/>
          </a:solidFill>
          <a:ln w="9525">
            <a:solidFill>
              <a:srgbClr val="D8DAE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60120" y="5029200"/>
            <a:ext cx="822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7A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1783080" y="5138928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33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vulnerabilities in shipped dependencies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153912" y="4892040"/>
            <a:ext cx="5321808" cy="1005840"/>
          </a:xfrm>
          <a:prstGeom prst="roundRect">
            <a:avLst>
              <a:gd name="adj" fmla="val 5455"/>
            </a:avLst>
          </a:prstGeom>
          <a:solidFill>
            <a:srgbClr val="F4F5F9"/>
          </a:solidFill>
          <a:ln w="9525">
            <a:solidFill>
              <a:srgbClr val="D8DAE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519672" y="5029200"/>
            <a:ext cx="914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000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3200" dirty="0"/>
          </a:p>
        </p:txBody>
      </p:sp>
      <p:sp>
        <p:nvSpPr>
          <p:cNvPr id="11" name="Text 8"/>
          <p:cNvSpPr txBox="1"/>
          <p:nvPr/>
        </p:nvSpPr>
        <p:spPr>
          <a:xfrm>
            <a:off x="7452360" y="5138928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C6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build tooling only — never reaches a user</a:t>
            </a:r>
            <a:endParaRPr lang="en-US" sz="1250" dirty="0"/>
          </a:p>
        </p:txBody>
      </p:sp>
      <p:pic>
        <p:nvPicPr>
          <p:cNvPr id="12" name="Image 0" descr="C:\Users\nguye\AppData\Local\Temp\claude\E--WORK-OFFLINE-apps-Adflow\c4dbe0b3-8f3b-4a26-ba73-6ba5f8057916\scratchpad\brand\rmit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6272784"/>
            <a:ext cx="841248" cy="292033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572768" y="630936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9F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Adflow  ·  v0.61.1  ·  ITS review</a:t>
            </a:r>
            <a:endParaRPr lang="en-US" sz="900" dirty="0"/>
          </a:p>
        </p:txBody>
      </p:sp>
      <p:sp>
        <p:nvSpPr>
          <p:cNvPr id="14" name="Text 10"/>
          <p:cNvSpPr txBox="1"/>
          <p:nvPr/>
        </p:nvSpPr>
        <p:spPr>
          <a:xfrm>
            <a:off x="11064240" y="630936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9F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14630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61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ONGOING OBLIGATION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4114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bundled browser engine must be patched by us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18872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B2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state this rather than leave it to be found. It is the substantive question in this review.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94360" y="2148840"/>
            <a:ext cx="5321808" cy="2240280"/>
          </a:xfrm>
          <a:prstGeom prst="roundRect">
            <a:avLst>
              <a:gd name="adj" fmla="val 2449"/>
            </a:avLst>
          </a:prstGeom>
          <a:solidFill>
            <a:srgbClr val="141468"/>
          </a:solidFill>
          <a:ln w="9525">
            <a:solidFill>
              <a:srgbClr val="D8DAE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0120" y="23774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61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issue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2761488"/>
            <a:ext cx="4663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CB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bundles Chromium 130 (Electron 33.4.11). Windows Update and ITS browser management do not patch it. When an advisory lands, the fix is a rebuild and a redistribution — a handful of times a year.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153912" y="2148840"/>
            <a:ext cx="5321808" cy="2240280"/>
          </a:xfrm>
          <a:prstGeom prst="roundRect">
            <a:avLst>
              <a:gd name="adj" fmla="val 2449"/>
            </a:avLst>
          </a:prstGeom>
          <a:solidFill>
            <a:srgbClr val="141468"/>
          </a:solidFill>
          <a:ln w="9525">
            <a:solidFill>
              <a:srgbClr val="D8DAE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19672" y="23774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61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limits the exposure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519672" y="2761488"/>
            <a:ext cx="4663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CB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loads no remote content of any kind and renders nothing the user has not opened from their own disk. The usual route to a browser-engine exploit — hostile content arriving over the network — does not exist here.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94360" y="4617720"/>
            <a:ext cx="10881360" cy="1143000"/>
          </a:xfrm>
          <a:prstGeom prst="roundRect">
            <a:avLst>
              <a:gd name="adj" fmla="val 4800"/>
            </a:avLst>
          </a:prstGeom>
          <a:solidFill>
            <a:srgbClr val="E61E2A"/>
          </a:solidFill>
          <a:ln w="9525">
            <a:solidFill>
              <a:srgbClr val="D8DAE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05840" y="484632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that obligation is not acceptable, the identical application runs as a static site inside the browser ITS already manages and patches — with no runtime of our own to review.</a:t>
            </a:r>
            <a:endParaRPr lang="en-US" sz="1400" dirty="0"/>
          </a:p>
        </p:txBody>
      </p:sp>
      <p:pic>
        <p:nvPicPr>
          <p:cNvPr id="13" name="Image 0" descr="C:\Users\nguye\AppData\Local\Temp\claude\E--WORK-OFFLINE-apps-Adflow\c4dbe0b3-8f3b-4a26-ba73-6ba5f8057916\scratchpad\brand\rmit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6272784"/>
            <a:ext cx="841248" cy="292033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1572768" y="630936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E9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Adflow  ·  v0.61.1  ·  ITS review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11064240" y="630936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9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14630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61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GAPS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4114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000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Stated openly, with their status</a:t>
            </a:r>
            <a:endParaRPr lang="en-US" sz="3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2011680"/>
          <a:ext cx="1088136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4297680"/>
                <a:gridCol w="3566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5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Effect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5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5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Binaries are not code-signed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Windows warns on download; macOS blocks it outright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Needs a certificate — our main ask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Chromium version is pinned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patched by ITS browser management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Rebuild and redistribute on advisories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 tooling reports findings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reach users; shipped scope is zero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Build-machine hygiene, tracked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macOS build not yet produced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 users build locally from source today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Needs an Apple Developer account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94360" y="489204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F4F5F9"/>
          </a:solidFill>
          <a:ln w="9525">
            <a:solidFill>
              <a:srgbClr val="D8DAE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60120" y="5120640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Supporting documents in the repository:  SECURITY.md  ·  DEPENDENCIES.md  ·  lib/THIRD-PARTY-NOTICES.txt</a:t>
            </a:r>
            <a:endParaRPr lang="en-US" sz="1300" dirty="0"/>
          </a:p>
        </p:txBody>
      </p:sp>
      <p:pic>
        <p:nvPicPr>
          <p:cNvPr id="7" name="Image 0" descr="C:\Users\nguye\AppData\Local\Temp\claude\E--WORK-OFFLINE-apps-Adflow\c4dbe0b3-8f3b-4a26-ba73-6ba5f8057916\scratchpad\brand\rmit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6272784"/>
            <a:ext cx="841248" cy="29203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72768" y="630936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9F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Adflow  ·  v0.61.1  ·  ITS review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11064240" y="630936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9F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nguye\AppData\Local\Temp\claude\E--WORK-OFFLINE-apps-Adflow\c4dbe0b3-8f3b-4a26-ba73-6ba5f8057916\scratchpad\brand\pixel-red.png">    </p:cNvPr>
          <p:cNvPicPr>
            <a:picLocks noChangeAspect="1"/>
          </p:cNvPicPr>
          <p:nvPr/>
        </p:nvPicPr>
        <p:blipFill>
          <a:blip r:embed="rId1">
            <a:alphaModFix amt="22000"/>
          </a:blip>
          <a:stretch>
            <a:fillRect/>
          </a:stretch>
        </p:blipFill>
        <p:spPr>
          <a:xfrm>
            <a:off x="-2103120" y="3200400"/>
            <a:ext cx="3840480" cy="3750869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94360" y="14630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61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ARE ASKING FOR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94360" y="4572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decisions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594360" y="1572768"/>
            <a:ext cx="10881360" cy="1261872"/>
          </a:xfrm>
          <a:prstGeom prst="roundRect">
            <a:avLst>
              <a:gd name="adj" fmla="val 4348"/>
            </a:avLst>
          </a:prstGeom>
          <a:solidFill>
            <a:srgbClr val="141468"/>
          </a:solidFill>
          <a:ln w="9525">
            <a:solidFill>
              <a:srgbClr val="D8DA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60120" y="2011680"/>
            <a:ext cx="384048" cy="384048"/>
          </a:xfrm>
          <a:prstGeom prst="ellipse">
            <a:avLst/>
          </a:prstGeom>
          <a:solidFill>
            <a:srgbClr val="E61E2A"/>
          </a:solidFill>
          <a:ln w="12700">
            <a:solidFill>
              <a:srgbClr val="E61E2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60120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1554480" y="1801368"/>
            <a:ext cx="9509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the application for internal use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554480" y="2167128"/>
            <a:ext cx="9509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AFB2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to scan today: unminified, dependency-free at runtime, with published checksums. Ready to run: docker compose up -d --build.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94360" y="2944368"/>
            <a:ext cx="10881360" cy="1261872"/>
          </a:xfrm>
          <a:prstGeom prst="roundRect">
            <a:avLst>
              <a:gd name="adj" fmla="val 4348"/>
            </a:avLst>
          </a:prstGeom>
          <a:solidFill>
            <a:srgbClr val="141468"/>
          </a:solidFill>
          <a:ln w="9525">
            <a:solidFill>
              <a:srgbClr val="D8DAE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60120" y="3383280"/>
            <a:ext cx="384048" cy="384048"/>
          </a:xfrm>
          <a:prstGeom prst="ellipse">
            <a:avLst/>
          </a:prstGeom>
          <a:solidFill>
            <a:srgbClr val="E61E2A"/>
          </a:solidFill>
          <a:ln w="12700">
            <a:solidFill>
              <a:srgbClr val="E61E2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60120" y="3383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1554480" y="3172968"/>
            <a:ext cx="9509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 a code-signing certificate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1554480" y="3538728"/>
            <a:ext cx="9509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AFB2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Removes the SmartScreen warning staff currently see, and is a prerequisite for any macOS distribution.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94360" y="4315968"/>
            <a:ext cx="10881360" cy="1261872"/>
          </a:xfrm>
          <a:prstGeom prst="roundRect">
            <a:avLst>
              <a:gd name="adj" fmla="val 4348"/>
            </a:avLst>
          </a:prstGeom>
          <a:solidFill>
            <a:srgbClr val="141468"/>
          </a:solidFill>
          <a:ln w="9525">
            <a:solidFill>
              <a:srgbClr val="D8DAE6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960120" y="4754880"/>
            <a:ext cx="384048" cy="384048"/>
          </a:xfrm>
          <a:prstGeom prst="ellipse">
            <a:avLst/>
          </a:prstGeom>
          <a:solidFill>
            <a:srgbClr val="E61E2A"/>
          </a:solidFill>
          <a:ln w="12700">
            <a:solidFill>
              <a:srgbClr val="E61E2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960120" y="4754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1554480" y="4544568"/>
            <a:ext cx="9509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 the patching arrangement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554480" y="4910328"/>
            <a:ext cx="9509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AFB2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rebuild and redistribute on Chromium advisories. Confirm that meets policy, or we move to hosted delivery instead.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594360" y="57150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8E9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Adflow is small, readable, offline by default and stores nothing outside the machine it runs on.</a:t>
            </a:r>
            <a:endParaRPr lang="en-US" sz="1300" dirty="0"/>
          </a:p>
        </p:txBody>
      </p:sp>
      <p:pic>
        <p:nvPicPr>
          <p:cNvPr id="21" name="Image 1" descr="C:\Users\nguye\AppData\Local\Temp\claude\E--WORK-OFFLINE-apps-Adflow\c4dbe0b3-8f3b-4a26-ba73-6ba5f8057916\scratchpad\brand\rmit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272784"/>
            <a:ext cx="841248" cy="292033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1572768" y="630936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E9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Adflow  ·  v0.61.1  ·  ITS review</a:t>
            </a:r>
            <a:endParaRPr lang="en-US" sz="900" dirty="0"/>
          </a:p>
        </p:txBody>
      </p:sp>
      <p:sp>
        <p:nvSpPr>
          <p:cNvPr id="23" name="Text 19"/>
          <p:cNvSpPr txBox="1"/>
          <p:nvPr/>
        </p:nvSpPr>
        <p:spPr>
          <a:xfrm>
            <a:off x="11064240" y="630936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9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RMIT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RMIT Adflow — ITS Review</dc:title>
  <dc:subject>PptxGenJS Presentation</dc:subject>
  <dc:creator>RMIT Adflow</dc:creator>
  <cp:lastModifiedBy>RMIT Adflow</cp:lastModifiedBy>
  <cp:revision>1</cp:revision>
  <dcterms:created xsi:type="dcterms:W3CDTF">2026-09-21T09:17:14Z</dcterms:created>
  <dcterms:modified xsi:type="dcterms:W3CDTF">2026-09-21T09:17:14Z</dcterms:modified>
</cp:coreProperties>
</file>