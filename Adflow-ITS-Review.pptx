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9" r:id="rId4"/>
    <p:sldId id="260" r:id="rId5"/>
    <p:sldId id="261" r:id="rId6"/>
    <p:sldId id="262" r:id="rId7"/>
    <p:sldId id="263" r:id="rId8"/>
    <p:sldId id="264" r:id="rId9"/>
    <p:sldId id="265" r:id="rId10"/>
    <p:sldId id="267"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212" d="100"/>
          <a:sy n="212" d="100"/>
        </p:scale>
        <p:origin x="152" y="4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00054"/>
                </a:solidFill>
                <a:latin typeface="Calibri"/>
              </a:defRPr>
            </a:pPr>
            <a:r>
              <a:rPr sz="1300" b="0" i="0" u="none" strike="noStrike">
                <a:solidFill>
                  <a:srgbClr val="000054"/>
                </a:solidFill>
                <a:latin typeface="Calibri"/>
              </a:rPr>
              <a:t>Portable app, by size (MB)</a:t>
            </a:r>
          </a:p>
        </c:rich>
      </c:tx>
      <c:overlay val="0"/>
    </c:title>
    <c:autoTitleDeleted val="0"/>
    <c:plotArea>
      <c:layout/>
      <c:doughnutChart>
        <c:varyColors val="1"/>
        <c:ser>
          <c:idx val="0"/>
          <c:order val="0"/>
          <c:tx>
            <c:strRef>
              <c:f>Sheet1!$B$1</c:f>
              <c:strCache>
                <c:ptCount val="1"/>
                <c:pt idx="0">
                  <c:v>Portable app</c:v>
                </c:pt>
              </c:strCache>
            </c:strRef>
          </c:tx>
          <c:spPr>
            <a:solidFill>
              <a:schemeClr val="accent1"/>
            </a:solidFill>
            <a:ln w="9525" cap="flat">
              <a:solidFill>
                <a:srgbClr val="F9F9F9"/>
              </a:solidFill>
              <a:prstDash val="solid"/>
              <a:round/>
            </a:ln>
            <a:effectLst/>
          </c:spPr>
          <c:dPt>
            <c:idx val="0"/>
            <c:bubble3D val="0"/>
            <c:spPr>
              <a:solidFill>
                <a:srgbClr val="3C3C44"/>
              </a:solidFill>
              <a:effectLst/>
            </c:spPr>
            <c:extLst>
              <c:ext xmlns:c16="http://schemas.microsoft.com/office/drawing/2014/chart" uri="{C3380CC4-5D6E-409C-BE32-E72D297353CC}">
                <c16:uniqueId val="{00000001-37F1-49F2-AE9D-16D1CEB47A13}"/>
              </c:ext>
            </c:extLst>
          </c:dPt>
          <c:dPt>
            <c:idx val="1"/>
            <c:bubble3D val="0"/>
            <c:spPr>
              <a:solidFill>
                <a:srgbClr val="E61E2A"/>
              </a:solidFill>
              <a:effectLst/>
            </c:spPr>
            <c:extLst>
              <c:ext xmlns:c16="http://schemas.microsoft.com/office/drawing/2014/chart" uri="{C3380CC4-5D6E-409C-BE32-E72D297353CC}">
                <c16:uniqueId val="{00000003-37F1-49F2-AE9D-16D1CEB47A13}"/>
              </c:ext>
            </c:extLst>
          </c:dPt>
          <c:dLbls>
            <c:dLbl>
              <c:idx val="0"/>
              <c:numFmt formatCode="0&quot; MB&quot;" sourceLinked="0"/>
              <c:spPr/>
              <c:txPr>
                <a:bodyPr/>
                <a:lstStyle/>
                <a:p>
                  <a:pPr>
                    <a:defRPr sz="1200" b="1"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7F1-49F2-AE9D-16D1CEB47A13}"/>
                </c:ext>
              </c:extLst>
            </c:dLbl>
            <c:dLbl>
              <c:idx val="1"/>
              <c:numFmt formatCode="0&quot; MB&quot;" sourceLinked="0"/>
              <c:spPr/>
              <c:txPr>
                <a:bodyPr/>
                <a:lstStyle/>
                <a:p>
                  <a:pPr>
                    <a:defRPr sz="1200" b="1"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7F1-49F2-AE9D-16D1CEB47A13}"/>
                </c:ext>
              </c:extLst>
            </c:dLbl>
            <c:numFmt formatCode="0&quot; MB&quot;"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Electron / Chromium runtime</c:v>
                </c:pt>
                <c:pt idx="1">
                  <c:v>Adflow itself</c:v>
                </c:pt>
              </c:strCache>
            </c:strRef>
          </c:cat>
          <c:val>
            <c:numRef>
              <c:f>Sheet1!$B$2:$B$3</c:f>
              <c:numCache>
                <c:formatCode>General</c:formatCode>
                <c:ptCount val="2"/>
                <c:pt idx="0">
                  <c:v>269</c:v>
                </c:pt>
                <c:pt idx="1">
                  <c:v>20</c:v>
                </c:pt>
              </c:numCache>
            </c:numRef>
          </c:val>
          <c:extLst>
            <c:ext xmlns:c16="http://schemas.microsoft.com/office/drawing/2014/chart" uri="{C3380CC4-5D6E-409C-BE32-E72D297353CC}">
              <c16:uniqueId val="{00000004-37F1-49F2-AE9D-16D1CEB47A13}"/>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100">
              <a:solidFill>
                <a:srgbClr val="55555E"/>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9747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 of the session: agree that Adflow can be reviewed and deployed. Two substantive questions only — the bundled Chromium runtime and code signing. Everything else is unusually simple: no backend, no accounts, no network traffic.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"no"s are what make the review short. Most of what a security team normally has to assess — authentication, data at rest on a server, API surface, egress — simply does not exist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bundled runtime becomes a sticking point, the third column is the fallback: the same application inside the browser ITS already patches, with no Chromium of our own to maintain.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data-retention or data-residency question to answer, because no institutional system ever holds this data. It is the same posture as a local image editor.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teams distrust Electron apps largely because they typically ship telemetry and an update channel. This one has neither — worth saying plainly rather than letting them find out by asking.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runtime size to prompt a question. The answer is that it is a browser engine, the same one already approved on the fleet, and the next slide covers the obligation that comes with bundling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scan is run it will report the 14. The distinction is real: those packages build the app and are not inside it. DEPENDENCIES.md documents both scopes and how to verify each checksum.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this. Raising it ourselves is what makes it a managed risk rather than an oversight discovered during the review. The fallback in the red band is genuine and costs nothing to take.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licence body in the notices file is the genuine text fetched from each project’s own repository, not retyped, so it cannot drift from what they publish.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questions. The repository link gives ITS direct access to the source under review, with the security summary, dependency checksums and container runbook alongside it. If the repository is private, confirm who at ITS needs read access before the session.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hyperlink" Target="https://github.com/westmere7/Adflow_local"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54"/>
        </a:solidFill>
        <a:effectLst/>
      </p:bgPr>
    </p:bg>
    <p:spTree>
      <p:nvGrpSpPr>
        <p:cNvPr id="1" name=""/>
        <p:cNvGrpSpPr/>
        <p:nvPr/>
      </p:nvGrpSpPr>
      <p:grpSpPr>
        <a:xfrm>
          <a:off x="0" y="0"/>
          <a:ext cx="0" cy="0"/>
          <a:chOff x="0" y="0"/>
          <a:chExt cx="0" cy="0"/>
        </a:xfrm>
      </p:grpSpPr>
      <p:pic>
        <p:nvPicPr>
          <p:cNvPr id="2" name="Image 0" descr="C:\Users\nguye\AppData\Local\Temp\claude\E--WORK-OFFLINE-apps-Adflow\c4dbe0b3-8f3b-4a26-ba73-6ba5f8057916\scratchpad\brand\pixel-red.png"/>
          <p:cNvPicPr>
            <a:picLocks noChangeAspect="1"/>
          </p:cNvPicPr>
          <p:nvPr/>
        </p:nvPicPr>
        <p:blipFill>
          <a:blip r:embed="rId3"/>
          <a:stretch>
            <a:fillRect/>
          </a:stretch>
        </p:blipFill>
        <p:spPr>
          <a:xfrm>
            <a:off x="8732520" y="1143000"/>
            <a:ext cx="4434840" cy="4331360"/>
          </a:xfrm>
          <a:prstGeom prst="rect">
            <a:avLst/>
          </a:prstGeom>
        </p:spPr>
      </p:pic>
      <p:pic>
        <p:nvPicPr>
          <p:cNvPr id="3" name="Image 1" descr="C:\Users\nguye\AppData\Local\Temp\claude\E--WORK-OFFLINE-apps-Adflow\c4dbe0b3-8f3b-4a26-ba73-6ba5f8057916\scratchpad\brand\adflow-wordmark.png"/>
          <p:cNvPicPr>
            <a:picLocks noChangeAspect="1"/>
          </p:cNvPicPr>
          <p:nvPr/>
        </p:nvPicPr>
        <p:blipFill>
          <a:blip r:embed="rId4"/>
          <a:stretch>
            <a:fillRect/>
          </a:stretch>
        </p:blipFill>
        <p:spPr>
          <a:xfrm>
            <a:off x="822960" y="777240"/>
            <a:ext cx="3931920" cy="509511"/>
          </a:xfrm>
          <a:prstGeom prst="rect">
            <a:avLst/>
          </a:prstGeom>
        </p:spPr>
      </p:pic>
      <p:sp>
        <p:nvSpPr>
          <p:cNvPr id="4" name="Text 0"/>
          <p:cNvSpPr txBox="1"/>
          <p:nvPr/>
        </p:nvSpPr>
        <p:spPr>
          <a:xfrm>
            <a:off x="822960" y="2514600"/>
            <a:ext cx="7680960" cy="1737360"/>
          </a:xfrm>
          <a:prstGeom prst="rect">
            <a:avLst/>
          </a:prstGeom>
          <a:noFill/>
          <a:ln/>
        </p:spPr>
        <p:txBody>
          <a:bodyPr wrap="square" lIns="0" tIns="0" rIns="0" bIns="0" rtlCol="0" anchor="t"/>
          <a:lstStyle/>
          <a:p>
            <a:pPr marL="0" indent="0">
              <a:lnSpc>
                <a:spcPct val="100000"/>
              </a:lnSpc>
              <a:buNone/>
            </a:pPr>
            <a:r>
              <a:rPr lang="en-US" sz="4400" b="1" dirty="0">
                <a:solidFill>
                  <a:srgbClr val="FFFFFF"/>
                </a:solidFill>
                <a:latin typeface="Cambria" pitchFamily="34" charset="0"/>
                <a:ea typeface="Cambria" pitchFamily="34" charset="-122"/>
                <a:cs typeface="Cambria" pitchFamily="34" charset="-120"/>
              </a:rPr>
              <a:t>Architecture and</a:t>
            </a:r>
            <a:endParaRPr lang="en-US" sz="4400" dirty="0"/>
          </a:p>
          <a:p>
            <a:pPr marL="0" indent="0">
              <a:lnSpc>
                <a:spcPct val="100000"/>
              </a:lnSpc>
              <a:buNone/>
            </a:pPr>
            <a:r>
              <a:rPr lang="en-US" sz="4400" b="1" dirty="0">
                <a:solidFill>
                  <a:srgbClr val="FFFFFF"/>
                </a:solidFill>
                <a:latin typeface="Cambria" pitchFamily="34" charset="0"/>
                <a:ea typeface="Cambria" pitchFamily="34" charset="-122"/>
                <a:cs typeface="Cambria" pitchFamily="34" charset="-120"/>
              </a:rPr>
              <a:t>Security Review</a:t>
            </a:r>
            <a:endParaRPr lang="en-US" sz="4400" dirty="0"/>
          </a:p>
        </p:txBody>
      </p:sp>
      <p:sp>
        <p:nvSpPr>
          <p:cNvPr id="5" name="Text 1"/>
          <p:cNvSpPr txBox="1"/>
          <p:nvPr/>
        </p:nvSpPr>
        <p:spPr>
          <a:xfrm>
            <a:off x="822960" y="4709160"/>
            <a:ext cx="7498080" cy="822960"/>
          </a:xfrm>
          <a:prstGeom prst="rect">
            <a:avLst/>
          </a:prstGeom>
          <a:noFill/>
          <a:ln/>
        </p:spPr>
        <p:txBody>
          <a:bodyPr wrap="square" lIns="0" tIns="0" rIns="0" bIns="0" rtlCol="0" anchor="t"/>
          <a:lstStyle/>
          <a:p>
            <a:pPr marL="0" indent="0">
              <a:lnSpc>
                <a:spcPct val="125000"/>
              </a:lnSpc>
              <a:buNone/>
            </a:pPr>
            <a:r>
              <a:rPr lang="en-US" sz="1500" dirty="0">
                <a:solidFill>
                  <a:srgbClr val="AFB2D4"/>
                </a:solidFill>
                <a:latin typeface="Calibri" pitchFamily="34" charset="0"/>
                <a:ea typeface="Calibri" pitchFamily="34" charset="-122"/>
                <a:cs typeface="Calibri" pitchFamily="34" charset="-120"/>
              </a:rPr>
              <a:t>An in-house tool for producing HTML5 display advertising.</a:t>
            </a:r>
            <a:endParaRPr lang="en-US" sz="1500" dirty="0"/>
          </a:p>
          <a:p>
            <a:pPr marL="0" indent="0">
              <a:lnSpc>
                <a:spcPct val="125000"/>
              </a:lnSpc>
              <a:buNone/>
            </a:pPr>
            <a:r>
              <a:rPr lang="en-US" sz="1500" dirty="0">
                <a:solidFill>
                  <a:srgbClr val="AFB2D4"/>
                </a:solidFill>
                <a:latin typeface="Calibri" pitchFamily="34" charset="0"/>
                <a:ea typeface="Calibri" pitchFamily="34" charset="-122"/>
                <a:cs typeface="Calibri" pitchFamily="34" charset="-120"/>
              </a:rPr>
              <a:t>Prepared for RMIT ITS.</a:t>
            </a:r>
            <a:endParaRPr lang="en-US" sz="1500" dirty="0"/>
          </a:p>
        </p:txBody>
      </p:sp>
      <p:sp>
        <p:nvSpPr>
          <p:cNvPr id="6" name="Text 2"/>
          <p:cNvSpPr txBox="1"/>
          <p:nvPr/>
        </p:nvSpPr>
        <p:spPr>
          <a:xfrm>
            <a:off x="822960" y="5897880"/>
            <a:ext cx="8229600" cy="320040"/>
          </a:xfrm>
          <a:prstGeom prst="rect">
            <a:avLst/>
          </a:prstGeom>
          <a:noFill/>
          <a:ln/>
        </p:spPr>
        <p:txBody>
          <a:bodyPr wrap="square" lIns="0" tIns="0" rIns="0" bIns="0" rtlCol="0" anchor="ctr"/>
          <a:lstStyle/>
          <a:p>
            <a:pPr marL="0" indent="0">
              <a:buNone/>
            </a:pPr>
            <a:r>
              <a:rPr lang="en-US" sz="1100" dirty="0">
                <a:solidFill>
                  <a:srgbClr val="7A7DA8"/>
                </a:solidFill>
                <a:latin typeface="Calibri" pitchFamily="34" charset="0"/>
                <a:ea typeface="Calibri" pitchFamily="34" charset="-122"/>
                <a:cs typeface="Calibri" pitchFamily="34" charset="-120"/>
              </a:rPr>
              <a:t>Version 0.61.1  ·  Local edition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46304"/>
            <a:ext cx="10972800" cy="274320"/>
          </a:xfrm>
          <a:prstGeom prst="rect">
            <a:avLst/>
          </a:prstGeom>
          <a:noFill/>
          <a:ln/>
        </p:spPr>
        <p:txBody>
          <a:bodyPr wrap="square" lIns="0" tIns="0" rIns="0" bIns="0" rtlCol="0" anchor="ctr"/>
          <a:lstStyle/>
          <a:p>
            <a:pPr marL="0" indent="0" algn="l">
              <a:buNone/>
            </a:pPr>
            <a:r>
              <a:rPr lang="en-US" sz="1100" b="1" kern="0" spc="200" dirty="0">
                <a:solidFill>
                  <a:srgbClr val="E61E2A"/>
                </a:solidFill>
                <a:latin typeface="Calibri" pitchFamily="34" charset="0"/>
                <a:ea typeface="Calibri" pitchFamily="34" charset="-122"/>
                <a:cs typeface="Calibri" pitchFamily="34" charset="-120"/>
              </a:rPr>
              <a:t>WHAT IT IS</a:t>
            </a:r>
            <a:endParaRPr lang="en-US" sz="1100" dirty="0"/>
          </a:p>
        </p:txBody>
      </p:sp>
      <p:sp>
        <p:nvSpPr>
          <p:cNvPr id="3" name="Text 1"/>
          <p:cNvSpPr txBox="1"/>
          <p:nvPr/>
        </p:nvSpPr>
        <p:spPr>
          <a:xfrm>
            <a:off x="594360" y="411480"/>
            <a:ext cx="10972800" cy="685800"/>
          </a:xfrm>
          <a:prstGeom prst="rect">
            <a:avLst/>
          </a:prstGeom>
          <a:noFill/>
          <a:ln/>
        </p:spPr>
        <p:txBody>
          <a:bodyPr wrap="square" lIns="0" tIns="0" rIns="0" bIns="0" rtlCol="0" anchor="ctr"/>
          <a:lstStyle/>
          <a:p>
            <a:pPr marL="0" indent="0" algn="l">
              <a:buNone/>
            </a:pPr>
            <a:r>
              <a:rPr lang="en-US" sz="3400" b="1" dirty="0">
                <a:solidFill>
                  <a:srgbClr val="000054"/>
                </a:solidFill>
                <a:latin typeface="Cambria" pitchFamily="34" charset="0"/>
                <a:ea typeface="Cambria" pitchFamily="34" charset="-122"/>
                <a:cs typeface="Cambria" pitchFamily="34" charset="-120"/>
              </a:rPr>
              <a:t>A design tool that runs entirely on the user’s machine</a:t>
            </a:r>
            <a:endParaRPr lang="en-US" sz="3400" dirty="0"/>
          </a:p>
        </p:txBody>
      </p:sp>
      <p:sp>
        <p:nvSpPr>
          <p:cNvPr id="4" name="Text 2"/>
          <p:cNvSpPr txBox="1"/>
          <p:nvPr/>
        </p:nvSpPr>
        <p:spPr>
          <a:xfrm>
            <a:off x="594360" y="1188720"/>
            <a:ext cx="10881360" cy="502920"/>
          </a:xfrm>
          <a:prstGeom prst="rect">
            <a:avLst/>
          </a:prstGeom>
          <a:noFill/>
          <a:ln/>
        </p:spPr>
        <p:txBody>
          <a:bodyPr wrap="square" lIns="0" tIns="0" rIns="0" bIns="0" rtlCol="0" anchor="t"/>
          <a:lstStyle/>
          <a:p>
            <a:pPr marL="0" indent="0" algn="l">
              <a:lnSpc>
                <a:spcPct val="120000"/>
              </a:lnSpc>
              <a:buNone/>
            </a:pPr>
            <a:r>
              <a:rPr lang="en-US" sz="1500" dirty="0">
                <a:solidFill>
                  <a:srgbClr val="6C6F85"/>
                </a:solidFill>
                <a:latin typeface="Calibri" pitchFamily="34" charset="0"/>
                <a:ea typeface="Calibri" pitchFamily="34" charset="-122"/>
                <a:cs typeface="Calibri" pitchFamily="34" charset="-120"/>
              </a:rPr>
              <a:t>Creative staff build animated HTML5 display ads across every banner size at once, then export ad-network-compliant packages. It replaces licensed desktop software in that workflow.</a:t>
            </a:r>
            <a:endParaRPr lang="en-US" sz="1500" dirty="0"/>
          </a:p>
        </p:txBody>
      </p:sp>
      <p:sp>
        <p:nvSpPr>
          <p:cNvPr id="5" name="Shape 3"/>
          <p:cNvSpPr/>
          <p:nvPr/>
        </p:nvSpPr>
        <p:spPr>
          <a:xfrm>
            <a:off x="594360" y="2148840"/>
            <a:ext cx="10881360" cy="1133856"/>
          </a:xfrm>
          <a:prstGeom prst="roundRect">
            <a:avLst>
              <a:gd name="adj" fmla="val 4839"/>
            </a:avLst>
          </a:prstGeom>
          <a:solidFill>
            <a:srgbClr val="F4F5F9"/>
          </a:solidFill>
          <a:ln w="9525">
            <a:solidFill>
              <a:srgbClr val="D8DAE6"/>
            </a:solidFill>
            <a:prstDash val="solid"/>
          </a:ln>
        </p:spPr>
      </p:sp>
      <p:sp>
        <p:nvSpPr>
          <p:cNvPr id="6" name="Shape 4"/>
          <p:cNvSpPr/>
          <p:nvPr/>
        </p:nvSpPr>
        <p:spPr>
          <a:xfrm>
            <a:off x="914400" y="2523744"/>
            <a:ext cx="384048" cy="384048"/>
          </a:xfrm>
          <a:prstGeom prst="ellipse">
            <a:avLst/>
          </a:prstGeom>
          <a:solidFill>
            <a:srgbClr val="E61E2A"/>
          </a:solidFill>
          <a:ln w="12700">
            <a:solidFill>
              <a:srgbClr val="E61E2A"/>
            </a:solidFill>
            <a:prstDash val="solid"/>
          </a:ln>
        </p:spPr>
      </p:sp>
      <p:sp>
        <p:nvSpPr>
          <p:cNvPr id="7" name="Text 5"/>
          <p:cNvSpPr txBox="1"/>
          <p:nvPr/>
        </p:nvSpPr>
        <p:spPr>
          <a:xfrm>
            <a:off x="914400" y="25237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81328" y="2350008"/>
            <a:ext cx="2926080" cy="329184"/>
          </a:xfrm>
          <a:prstGeom prst="rect">
            <a:avLst/>
          </a:prstGeom>
          <a:noFill/>
          <a:ln/>
        </p:spPr>
        <p:txBody>
          <a:bodyPr wrap="square" lIns="0" tIns="0" rIns="0" bIns="0" rtlCol="0" anchor="ctr"/>
          <a:lstStyle/>
          <a:p>
            <a:pPr marL="0" indent="0">
              <a:buNone/>
            </a:pPr>
            <a:r>
              <a:rPr lang="en-US" sz="1600" b="1" dirty="0">
                <a:solidFill>
                  <a:srgbClr val="000054"/>
                </a:solidFill>
                <a:latin typeface="Calibri" pitchFamily="34" charset="0"/>
                <a:ea typeface="Calibri" pitchFamily="34" charset="-122"/>
                <a:cs typeface="Calibri" pitchFamily="34" charset="-120"/>
              </a:rPr>
              <a:t>No backend</a:t>
            </a:r>
            <a:endParaRPr lang="en-US" sz="1600" dirty="0"/>
          </a:p>
        </p:txBody>
      </p:sp>
      <p:sp>
        <p:nvSpPr>
          <p:cNvPr id="9" name="Text 7"/>
          <p:cNvSpPr txBox="1"/>
          <p:nvPr/>
        </p:nvSpPr>
        <p:spPr>
          <a:xfrm>
            <a:off x="1481328" y="2697480"/>
            <a:ext cx="9601200" cy="457200"/>
          </a:xfrm>
          <a:prstGeom prst="rect">
            <a:avLst/>
          </a:prstGeom>
          <a:noFill/>
          <a:ln/>
        </p:spPr>
        <p:txBody>
          <a:bodyPr wrap="square" lIns="0" tIns="0" rIns="0" bIns="0" rtlCol="0" anchor="ctr"/>
          <a:lstStyle/>
          <a:p>
            <a:pPr marL="0" indent="0">
              <a:lnSpc>
                <a:spcPct val="115000"/>
              </a:lnSpc>
              <a:buNone/>
            </a:pPr>
            <a:r>
              <a:rPr lang="en-US" sz="1250" dirty="0">
                <a:solidFill>
                  <a:srgbClr val="6C6F85"/>
                </a:solidFill>
                <a:latin typeface="Calibri" pitchFamily="34" charset="0"/>
                <a:ea typeface="Calibri" pitchFamily="34" charset="-122"/>
                <a:cs typeface="Calibri" pitchFamily="34" charset="-120"/>
              </a:rPr>
              <a:t>No accounts, no database, no server-side code. The hosted backend was removed entirely in v0.60.0.</a:t>
            </a:r>
            <a:endParaRPr lang="en-US" sz="1250" dirty="0"/>
          </a:p>
        </p:txBody>
      </p:sp>
      <p:sp>
        <p:nvSpPr>
          <p:cNvPr id="10" name="Shape 8"/>
          <p:cNvSpPr/>
          <p:nvPr/>
        </p:nvSpPr>
        <p:spPr>
          <a:xfrm>
            <a:off x="594360" y="3447288"/>
            <a:ext cx="10881360" cy="1133856"/>
          </a:xfrm>
          <a:prstGeom prst="roundRect">
            <a:avLst>
              <a:gd name="adj" fmla="val 4839"/>
            </a:avLst>
          </a:prstGeom>
          <a:solidFill>
            <a:srgbClr val="F4F5F9"/>
          </a:solidFill>
          <a:ln w="9525">
            <a:solidFill>
              <a:srgbClr val="D8DAE6"/>
            </a:solidFill>
            <a:prstDash val="solid"/>
          </a:ln>
        </p:spPr>
      </p:sp>
      <p:sp>
        <p:nvSpPr>
          <p:cNvPr id="11" name="Shape 9"/>
          <p:cNvSpPr/>
          <p:nvPr/>
        </p:nvSpPr>
        <p:spPr>
          <a:xfrm>
            <a:off x="914400" y="3822192"/>
            <a:ext cx="384048" cy="384048"/>
          </a:xfrm>
          <a:prstGeom prst="ellipse">
            <a:avLst/>
          </a:prstGeom>
          <a:solidFill>
            <a:srgbClr val="E61E2A"/>
          </a:solidFill>
          <a:ln w="12700">
            <a:solidFill>
              <a:srgbClr val="E61E2A"/>
            </a:solidFill>
            <a:prstDash val="solid"/>
          </a:ln>
        </p:spPr>
      </p:sp>
      <p:sp>
        <p:nvSpPr>
          <p:cNvPr id="12" name="Text 10"/>
          <p:cNvSpPr txBox="1"/>
          <p:nvPr/>
        </p:nvSpPr>
        <p:spPr>
          <a:xfrm>
            <a:off x="914400" y="38221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481328" y="3648456"/>
            <a:ext cx="2926080" cy="329184"/>
          </a:xfrm>
          <a:prstGeom prst="rect">
            <a:avLst/>
          </a:prstGeom>
          <a:noFill/>
          <a:ln/>
        </p:spPr>
        <p:txBody>
          <a:bodyPr wrap="square" lIns="0" tIns="0" rIns="0" bIns="0" rtlCol="0" anchor="ctr"/>
          <a:lstStyle/>
          <a:p>
            <a:pPr marL="0" indent="0">
              <a:buNone/>
            </a:pPr>
            <a:r>
              <a:rPr lang="en-US" sz="1600" b="1" dirty="0">
                <a:solidFill>
                  <a:srgbClr val="000054"/>
                </a:solidFill>
                <a:latin typeface="Calibri" pitchFamily="34" charset="0"/>
                <a:ea typeface="Calibri" pitchFamily="34" charset="-122"/>
                <a:cs typeface="Calibri" pitchFamily="34" charset="-120"/>
              </a:rPr>
              <a:t>No installation</a:t>
            </a:r>
            <a:endParaRPr lang="en-US" sz="1600" dirty="0"/>
          </a:p>
        </p:txBody>
      </p:sp>
      <p:sp>
        <p:nvSpPr>
          <p:cNvPr id="14" name="Text 12"/>
          <p:cNvSpPr txBox="1"/>
          <p:nvPr/>
        </p:nvSpPr>
        <p:spPr>
          <a:xfrm>
            <a:off x="1481328" y="3995928"/>
            <a:ext cx="9601200" cy="457200"/>
          </a:xfrm>
          <a:prstGeom prst="rect">
            <a:avLst/>
          </a:prstGeom>
          <a:noFill/>
          <a:ln/>
        </p:spPr>
        <p:txBody>
          <a:bodyPr wrap="square" lIns="0" tIns="0" rIns="0" bIns="0" rtlCol="0" anchor="ctr"/>
          <a:lstStyle/>
          <a:p>
            <a:pPr marL="0" indent="0">
              <a:lnSpc>
                <a:spcPct val="115000"/>
              </a:lnSpc>
              <a:buNone/>
            </a:pPr>
            <a:r>
              <a:rPr lang="en-US" sz="1250" dirty="0">
                <a:solidFill>
                  <a:srgbClr val="6C6F85"/>
                </a:solidFill>
                <a:latin typeface="Calibri" pitchFamily="34" charset="0"/>
                <a:ea typeface="Calibri" pitchFamily="34" charset="-122"/>
                <a:cs typeface="Calibri" pitchFamily="34" charset="-120"/>
              </a:rPr>
              <a:t>The desktop app is a folder. No registry writes, no admin rights, no Program Files.</a:t>
            </a:r>
            <a:endParaRPr lang="en-US" sz="1250" dirty="0"/>
          </a:p>
        </p:txBody>
      </p:sp>
      <p:sp>
        <p:nvSpPr>
          <p:cNvPr id="15" name="Shape 13"/>
          <p:cNvSpPr/>
          <p:nvPr/>
        </p:nvSpPr>
        <p:spPr>
          <a:xfrm>
            <a:off x="594360" y="4745736"/>
            <a:ext cx="10881360" cy="1133856"/>
          </a:xfrm>
          <a:prstGeom prst="roundRect">
            <a:avLst>
              <a:gd name="adj" fmla="val 4839"/>
            </a:avLst>
          </a:prstGeom>
          <a:solidFill>
            <a:srgbClr val="F4F5F9"/>
          </a:solidFill>
          <a:ln w="9525">
            <a:solidFill>
              <a:srgbClr val="D8DAE6"/>
            </a:solidFill>
            <a:prstDash val="solid"/>
          </a:ln>
        </p:spPr>
      </p:sp>
      <p:sp>
        <p:nvSpPr>
          <p:cNvPr id="16" name="Shape 14"/>
          <p:cNvSpPr/>
          <p:nvPr/>
        </p:nvSpPr>
        <p:spPr>
          <a:xfrm>
            <a:off x="914400" y="5120640"/>
            <a:ext cx="384048" cy="384048"/>
          </a:xfrm>
          <a:prstGeom prst="ellipse">
            <a:avLst/>
          </a:prstGeom>
          <a:solidFill>
            <a:srgbClr val="E61E2A"/>
          </a:solidFill>
          <a:ln w="12700">
            <a:solidFill>
              <a:srgbClr val="E61E2A"/>
            </a:solidFill>
            <a:prstDash val="solid"/>
          </a:ln>
        </p:spPr>
      </p:sp>
      <p:sp>
        <p:nvSpPr>
          <p:cNvPr id="17" name="Text 15"/>
          <p:cNvSpPr txBox="1"/>
          <p:nvPr/>
        </p:nvSpPr>
        <p:spPr>
          <a:xfrm>
            <a:off x="914400" y="51206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481328" y="4946904"/>
            <a:ext cx="2926080" cy="329184"/>
          </a:xfrm>
          <a:prstGeom prst="rect">
            <a:avLst/>
          </a:prstGeom>
          <a:noFill/>
          <a:ln/>
        </p:spPr>
        <p:txBody>
          <a:bodyPr wrap="square" lIns="0" tIns="0" rIns="0" bIns="0" rtlCol="0" anchor="ctr"/>
          <a:lstStyle/>
          <a:p>
            <a:pPr marL="0" indent="0">
              <a:buNone/>
            </a:pPr>
            <a:r>
              <a:rPr lang="en-US" sz="1600" b="1" dirty="0">
                <a:solidFill>
                  <a:srgbClr val="000054"/>
                </a:solidFill>
                <a:latin typeface="Calibri" pitchFamily="34" charset="0"/>
                <a:ea typeface="Calibri" pitchFamily="34" charset="-122"/>
                <a:cs typeface="Calibri" pitchFamily="34" charset="-120"/>
              </a:rPr>
              <a:t>No network traffic</a:t>
            </a:r>
            <a:endParaRPr lang="en-US" sz="1600" dirty="0"/>
          </a:p>
        </p:txBody>
      </p:sp>
      <p:sp>
        <p:nvSpPr>
          <p:cNvPr id="19" name="Text 17"/>
          <p:cNvSpPr txBox="1"/>
          <p:nvPr/>
        </p:nvSpPr>
        <p:spPr>
          <a:xfrm>
            <a:off x="1481328" y="5294376"/>
            <a:ext cx="9601200" cy="457200"/>
          </a:xfrm>
          <a:prstGeom prst="rect">
            <a:avLst/>
          </a:prstGeom>
          <a:noFill/>
          <a:ln/>
        </p:spPr>
        <p:txBody>
          <a:bodyPr wrap="square" lIns="0" tIns="0" rIns="0" bIns="0" rtlCol="0" anchor="ctr"/>
          <a:lstStyle/>
          <a:p>
            <a:pPr marL="0" indent="0">
              <a:lnSpc>
                <a:spcPct val="115000"/>
              </a:lnSpc>
              <a:buNone/>
            </a:pPr>
            <a:r>
              <a:rPr lang="en-US" sz="1250" dirty="0">
                <a:solidFill>
                  <a:srgbClr val="6C6F85"/>
                </a:solidFill>
                <a:latin typeface="Calibri" pitchFamily="34" charset="0"/>
                <a:ea typeface="Calibri" pitchFamily="34" charset="-122"/>
                <a:cs typeface="Calibri" pitchFamily="34" charset="-120"/>
              </a:rPr>
              <a:t>Nothing is uploaded, and nothing is fetched from the internet at runtime.</a:t>
            </a:r>
            <a:endParaRPr lang="en-US" sz="1250" dirty="0"/>
          </a:p>
        </p:txBody>
      </p:sp>
      <p:pic>
        <p:nvPicPr>
          <p:cNvPr id="20" name="Image 0" descr="C:\Users\nguye\AppData\Local\Temp\claude\E--WORK-OFFLINE-apps-Adflow\c4dbe0b3-8f3b-4a26-ba73-6ba5f8057916\scratchpad\brand\rmit-full.png"/>
          <p:cNvPicPr>
            <a:picLocks noChangeAspect="1"/>
          </p:cNvPicPr>
          <p:nvPr/>
        </p:nvPicPr>
        <p:blipFill>
          <a:blip r:embed="rId3"/>
          <a:stretch>
            <a:fillRect/>
          </a:stretch>
        </p:blipFill>
        <p:spPr>
          <a:xfrm>
            <a:off x="594360" y="6272784"/>
            <a:ext cx="841248" cy="292033"/>
          </a:xfrm>
          <a:prstGeom prst="rect">
            <a:avLst/>
          </a:prstGeom>
        </p:spPr>
      </p:pic>
      <p:sp>
        <p:nvSpPr>
          <p:cNvPr id="21" name="Text 18"/>
          <p:cNvSpPr txBox="1"/>
          <p:nvPr/>
        </p:nvSpPr>
        <p:spPr>
          <a:xfrm>
            <a:off x="1572768" y="6309360"/>
            <a:ext cx="6400800" cy="256032"/>
          </a:xfrm>
          <a:prstGeom prst="rect">
            <a:avLst/>
          </a:prstGeom>
          <a:noFill/>
          <a:ln/>
        </p:spPr>
        <p:txBody>
          <a:bodyPr wrap="square" lIns="0" tIns="0" rIns="0" bIns="0" rtlCol="0" anchor="ctr"/>
          <a:lstStyle/>
          <a:p>
            <a:pPr marL="0" indent="0">
              <a:buNone/>
            </a:pPr>
            <a:r>
              <a:rPr lang="en-US" sz="900" dirty="0">
                <a:solidFill>
                  <a:srgbClr val="9C9FB4"/>
                </a:solidFill>
                <a:latin typeface="Calibri" pitchFamily="34" charset="0"/>
                <a:ea typeface="Calibri" pitchFamily="34" charset="-122"/>
                <a:cs typeface="Calibri" pitchFamily="34" charset="-120"/>
              </a:rPr>
              <a:t>Adflow  ·  v0.61.1  ·  ITS review</a:t>
            </a:r>
            <a:endParaRPr lang="en-US" sz="900" dirty="0"/>
          </a:p>
        </p:txBody>
      </p:sp>
      <p:sp>
        <p:nvSpPr>
          <p:cNvPr id="22" name="Text 19"/>
          <p:cNvSpPr txBox="1"/>
          <p:nvPr/>
        </p:nvSpPr>
        <p:spPr>
          <a:xfrm>
            <a:off x="11064240" y="6309360"/>
            <a:ext cx="502920" cy="256032"/>
          </a:xfrm>
          <a:prstGeom prst="rect">
            <a:avLst/>
          </a:prstGeom>
          <a:noFill/>
          <a:ln/>
        </p:spPr>
        <p:txBody>
          <a:bodyPr wrap="square" lIns="0" tIns="0" rIns="0" bIns="0" rtlCol="0" anchor="ctr"/>
          <a:lstStyle/>
          <a:p>
            <a:pPr marL="0" indent="0" algn="r">
              <a:buNone/>
            </a:pPr>
            <a:r>
              <a:rPr lang="en-US" sz="900" dirty="0">
                <a:solidFill>
                  <a:srgbClr val="9C9FB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46304"/>
            <a:ext cx="10972800" cy="274320"/>
          </a:xfrm>
          <a:prstGeom prst="rect">
            <a:avLst/>
          </a:prstGeom>
          <a:noFill/>
          <a:ln/>
        </p:spPr>
        <p:txBody>
          <a:bodyPr wrap="square" lIns="0" tIns="0" rIns="0" bIns="0" rtlCol="0" anchor="ctr"/>
          <a:lstStyle/>
          <a:p>
            <a:pPr marL="0" indent="0" algn="l">
              <a:buNone/>
            </a:pPr>
            <a:r>
              <a:rPr lang="en-US" sz="1100" b="1" kern="0" spc="200" dirty="0">
                <a:solidFill>
                  <a:srgbClr val="E61E2A"/>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594360" y="411480"/>
            <a:ext cx="10972800" cy="685800"/>
          </a:xfrm>
          <a:prstGeom prst="rect">
            <a:avLst/>
          </a:prstGeom>
          <a:noFill/>
          <a:ln/>
        </p:spPr>
        <p:txBody>
          <a:bodyPr wrap="square" lIns="0" tIns="0" rIns="0" bIns="0" rtlCol="0" anchor="ctr"/>
          <a:lstStyle/>
          <a:p>
            <a:pPr marL="0" indent="0" algn="l">
              <a:buNone/>
            </a:pPr>
            <a:r>
              <a:rPr lang="en-US" sz="3400" b="1" dirty="0">
                <a:solidFill>
                  <a:srgbClr val="000054"/>
                </a:solidFill>
                <a:latin typeface="Cambria" pitchFamily="34" charset="0"/>
                <a:ea typeface="Cambria" pitchFamily="34" charset="-122"/>
                <a:cs typeface="Cambria" pitchFamily="34" charset="-120"/>
              </a:rPr>
              <a:t>One application, three ways to deliver it</a:t>
            </a:r>
            <a:endParaRPr lang="en-US" sz="3400" dirty="0"/>
          </a:p>
        </p:txBody>
      </p:sp>
      <p:sp>
        <p:nvSpPr>
          <p:cNvPr id="4" name="Text 2"/>
          <p:cNvSpPr txBox="1"/>
          <p:nvPr/>
        </p:nvSpPr>
        <p:spPr>
          <a:xfrm>
            <a:off x="594360" y="1188720"/>
            <a:ext cx="10881360" cy="502920"/>
          </a:xfrm>
          <a:prstGeom prst="rect">
            <a:avLst/>
          </a:prstGeom>
          <a:noFill/>
          <a:ln/>
        </p:spPr>
        <p:txBody>
          <a:bodyPr wrap="square" lIns="0" tIns="0" rIns="0" bIns="0" rtlCol="0" anchor="t"/>
          <a:lstStyle/>
          <a:p>
            <a:pPr marL="0" indent="0" algn="l">
              <a:lnSpc>
                <a:spcPct val="120000"/>
              </a:lnSpc>
              <a:buNone/>
            </a:pPr>
            <a:r>
              <a:rPr lang="en-US" sz="1500" dirty="0">
                <a:solidFill>
                  <a:srgbClr val="6C6F85"/>
                </a:solidFill>
                <a:latin typeface="Calibri" pitchFamily="34" charset="0"/>
                <a:ea typeface="Calibri" pitchFamily="34" charset="-122"/>
                <a:cs typeface="Calibri" pitchFamily="34" charset="-120"/>
              </a:rPr>
              <a:t>The application code is byte-identical in all three. Only the delivery differs, so a review of the code covers every option.</a:t>
            </a:r>
            <a:endParaRPr lang="en-US" sz="1500" dirty="0"/>
          </a:p>
        </p:txBody>
      </p:sp>
      <p:sp>
        <p:nvSpPr>
          <p:cNvPr id="5" name="Shape 3"/>
          <p:cNvSpPr/>
          <p:nvPr/>
        </p:nvSpPr>
        <p:spPr>
          <a:xfrm>
            <a:off x="594360" y="2103120"/>
            <a:ext cx="3538728" cy="3520440"/>
          </a:xfrm>
          <a:prstGeom prst="roundRect">
            <a:avLst>
              <a:gd name="adj" fmla="val 1558"/>
            </a:avLst>
          </a:prstGeom>
          <a:solidFill>
            <a:srgbClr val="000054"/>
          </a:solidFill>
          <a:ln w="9525">
            <a:solidFill>
              <a:srgbClr val="D8DAE6"/>
            </a:solidFill>
            <a:prstDash val="solid"/>
          </a:ln>
        </p:spPr>
      </p:sp>
      <p:sp>
        <p:nvSpPr>
          <p:cNvPr id="6" name="Text 4"/>
          <p:cNvSpPr txBox="1"/>
          <p:nvPr/>
        </p:nvSpPr>
        <p:spPr>
          <a:xfrm>
            <a:off x="914400" y="2377440"/>
            <a:ext cx="2926080" cy="36576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Portable app</a:t>
            </a:r>
            <a:endParaRPr lang="en-US" sz="2100" dirty="0"/>
          </a:p>
        </p:txBody>
      </p:sp>
      <p:sp>
        <p:nvSpPr>
          <p:cNvPr id="7" name="Text 5"/>
          <p:cNvSpPr txBox="1"/>
          <p:nvPr/>
        </p:nvSpPr>
        <p:spPr>
          <a:xfrm>
            <a:off x="914400" y="2743200"/>
            <a:ext cx="2926080" cy="274320"/>
          </a:xfrm>
          <a:prstGeom prst="rect">
            <a:avLst/>
          </a:prstGeom>
          <a:noFill/>
          <a:ln/>
        </p:spPr>
        <p:txBody>
          <a:bodyPr wrap="square" lIns="0" tIns="0" rIns="0" bIns="0" rtlCol="0" anchor="ctr"/>
          <a:lstStyle/>
          <a:p>
            <a:pPr marL="0" indent="0">
              <a:buNone/>
            </a:pPr>
            <a:r>
              <a:rPr lang="en-US" sz="1100" b="1" kern="0" spc="100" dirty="0">
                <a:solidFill>
                  <a:srgbClr val="E61E2A"/>
                </a:solidFill>
                <a:latin typeface="Calibri" pitchFamily="34" charset="0"/>
                <a:ea typeface="Calibri" pitchFamily="34" charset="-122"/>
                <a:cs typeface="Calibri" pitchFamily="34" charset="-120"/>
              </a:rPr>
              <a:t>Recommended for staff</a:t>
            </a:r>
            <a:endParaRPr lang="en-US" sz="1100" dirty="0"/>
          </a:p>
        </p:txBody>
      </p:sp>
      <p:sp>
        <p:nvSpPr>
          <p:cNvPr id="8" name="Text 6"/>
          <p:cNvSpPr txBox="1"/>
          <p:nvPr/>
        </p:nvSpPr>
        <p:spPr>
          <a:xfrm>
            <a:off x="914400" y="3108960"/>
            <a:ext cx="2926080" cy="2286000"/>
          </a:xfrm>
          <a:prstGeom prst="rect">
            <a:avLst/>
          </a:prstGeom>
          <a:noFill/>
          <a:ln/>
        </p:spPr>
        <p:txBody>
          <a:bodyPr wrap="square" lIns="0" tIns="0" rIns="0" bIns="0" rtlCol="0" anchor="t"/>
          <a:lstStyle/>
          <a:p>
            <a:pPr marL="342900" indent="-342900">
              <a:lnSpc>
                <a:spcPct val="110000"/>
              </a:lnSpc>
              <a:spcAft>
                <a:spcPts val="700"/>
              </a:spcAft>
              <a:buSzPct val="100000"/>
              <a:buChar char="•"/>
            </a:pPr>
            <a:r>
              <a:rPr lang="en-US" sz="1200" dirty="0">
                <a:solidFill>
                  <a:srgbClr val="D6D6DC"/>
                </a:solidFill>
                <a:latin typeface="Calibri" pitchFamily="34" charset="0"/>
                <a:ea typeface="Calibri" pitchFamily="34" charset="-122"/>
                <a:cs typeface="Calibri" pitchFamily="34" charset="-120"/>
              </a:rPr>
              <a:t>A folder holding the app and its runtime</a:t>
            </a:r>
            <a:endParaRPr lang="en-US" sz="1200" dirty="0"/>
          </a:p>
          <a:p>
            <a:pPr marL="342900" indent="-342900">
              <a:lnSpc>
                <a:spcPct val="110000"/>
              </a:lnSpc>
              <a:spcAft>
                <a:spcPts val="700"/>
              </a:spcAft>
              <a:buSzPct val="100000"/>
              <a:buChar char="•"/>
            </a:pPr>
            <a:r>
              <a:rPr lang="en-US" sz="1200" dirty="0">
                <a:solidFill>
                  <a:srgbClr val="D6D6DC"/>
                </a:solidFill>
                <a:latin typeface="Calibri" pitchFamily="34" charset="0"/>
                <a:ea typeface="Calibri" pitchFamily="34" charset="-122"/>
                <a:cs typeface="Calibri" pitchFamily="34" charset="-120"/>
              </a:rPr>
              <a:t>Nothing installed, no admin rights</a:t>
            </a:r>
            <a:endParaRPr lang="en-US" sz="1200" dirty="0"/>
          </a:p>
          <a:p>
            <a:pPr marL="342900" indent="-342900">
              <a:lnSpc>
                <a:spcPct val="110000"/>
              </a:lnSpc>
              <a:spcAft>
                <a:spcPts val="700"/>
              </a:spcAft>
              <a:buSzPct val="100000"/>
              <a:buChar char="•"/>
            </a:pPr>
            <a:r>
              <a:rPr lang="en-US" sz="1200" dirty="0">
                <a:solidFill>
                  <a:srgbClr val="D6D6DC"/>
                </a:solidFill>
                <a:latin typeface="Calibri" pitchFamily="34" charset="0"/>
                <a:ea typeface="Calibri" pitchFamily="34" charset="-122"/>
                <a:cs typeface="Calibri" pitchFamily="34" charset="-120"/>
              </a:rPr>
              <a:t>Works with no network at all</a:t>
            </a:r>
            <a:endParaRPr lang="en-US" sz="1200" dirty="0"/>
          </a:p>
          <a:p>
            <a:pPr marL="342900" indent="-342900">
              <a:lnSpc>
                <a:spcPct val="110000"/>
              </a:lnSpc>
              <a:spcAft>
                <a:spcPts val="700"/>
              </a:spcAft>
              <a:buSzPct val="100000"/>
              <a:buChar char="•"/>
            </a:pPr>
            <a:r>
              <a:rPr lang="en-US" sz="1200" dirty="0">
                <a:solidFill>
                  <a:srgbClr val="D6D6DC"/>
                </a:solidFill>
                <a:latin typeface="Calibri" pitchFamily="34" charset="0"/>
                <a:ea typeface="Calibri" pitchFamily="34" charset="-122"/>
                <a:cs typeface="Calibri" pitchFamily="34" charset="-120"/>
              </a:rPr>
              <a:t>288 MB</a:t>
            </a:r>
            <a:endParaRPr lang="en-US" sz="1200" dirty="0"/>
          </a:p>
        </p:txBody>
      </p:sp>
      <p:sp>
        <p:nvSpPr>
          <p:cNvPr id="9" name="Shape 7"/>
          <p:cNvSpPr/>
          <p:nvPr/>
        </p:nvSpPr>
        <p:spPr>
          <a:xfrm>
            <a:off x="4270248" y="2103120"/>
            <a:ext cx="3538728" cy="3520440"/>
          </a:xfrm>
          <a:prstGeom prst="roundRect">
            <a:avLst>
              <a:gd name="adj" fmla="val 1558"/>
            </a:avLst>
          </a:prstGeom>
          <a:solidFill>
            <a:srgbClr val="F4F5F9"/>
          </a:solidFill>
          <a:ln w="9525">
            <a:solidFill>
              <a:srgbClr val="D8DAE6"/>
            </a:solidFill>
            <a:prstDash val="solid"/>
          </a:ln>
        </p:spPr>
      </p:sp>
      <p:sp>
        <p:nvSpPr>
          <p:cNvPr id="10" name="Text 8"/>
          <p:cNvSpPr txBox="1"/>
          <p:nvPr/>
        </p:nvSpPr>
        <p:spPr>
          <a:xfrm>
            <a:off x="4590288" y="2377440"/>
            <a:ext cx="2926080" cy="365760"/>
          </a:xfrm>
          <a:prstGeom prst="rect">
            <a:avLst/>
          </a:prstGeom>
          <a:noFill/>
          <a:ln/>
        </p:spPr>
        <p:txBody>
          <a:bodyPr wrap="square" lIns="0" tIns="0" rIns="0" bIns="0" rtlCol="0" anchor="ctr"/>
          <a:lstStyle/>
          <a:p>
            <a:pPr marL="0" indent="0">
              <a:buNone/>
            </a:pPr>
            <a:r>
              <a:rPr lang="en-US" sz="2100" b="1" dirty="0">
                <a:solidFill>
                  <a:srgbClr val="000054"/>
                </a:solidFill>
                <a:latin typeface="Cambria" pitchFamily="34" charset="0"/>
                <a:ea typeface="Cambria" pitchFamily="34" charset="-122"/>
                <a:cs typeface="Cambria" pitchFamily="34" charset="-120"/>
              </a:rPr>
              <a:t>Container</a:t>
            </a:r>
            <a:endParaRPr lang="en-US" sz="2100" dirty="0"/>
          </a:p>
        </p:txBody>
      </p:sp>
      <p:sp>
        <p:nvSpPr>
          <p:cNvPr id="11" name="Text 9"/>
          <p:cNvSpPr txBox="1"/>
          <p:nvPr/>
        </p:nvSpPr>
        <p:spPr>
          <a:xfrm>
            <a:off x="4590288" y="2743200"/>
            <a:ext cx="2926080" cy="274320"/>
          </a:xfrm>
          <a:prstGeom prst="rect">
            <a:avLst/>
          </a:prstGeom>
          <a:noFill/>
          <a:ln/>
        </p:spPr>
        <p:txBody>
          <a:bodyPr wrap="square" lIns="0" tIns="0" rIns="0" bIns="0" rtlCol="0" anchor="ctr"/>
          <a:lstStyle/>
          <a:p>
            <a:pPr marL="0" indent="0">
              <a:buNone/>
            </a:pPr>
            <a:r>
              <a:rPr lang="en-US" sz="1100" b="1" kern="0" spc="100" dirty="0">
                <a:solidFill>
                  <a:srgbClr val="6C6F85"/>
                </a:solidFill>
                <a:latin typeface="Calibri" pitchFamily="34" charset="0"/>
                <a:ea typeface="Calibri" pitchFamily="34" charset="-122"/>
                <a:cs typeface="Calibri" pitchFamily="34" charset="-120"/>
              </a:rPr>
              <a:t>For internal hosting</a:t>
            </a:r>
            <a:endParaRPr lang="en-US" sz="1100" dirty="0"/>
          </a:p>
        </p:txBody>
      </p:sp>
      <p:sp>
        <p:nvSpPr>
          <p:cNvPr id="12" name="Text 10"/>
          <p:cNvSpPr txBox="1"/>
          <p:nvPr/>
        </p:nvSpPr>
        <p:spPr>
          <a:xfrm>
            <a:off x="4590288" y="3108960"/>
            <a:ext cx="2926080" cy="2286000"/>
          </a:xfrm>
          <a:prstGeom prst="rect">
            <a:avLst/>
          </a:prstGeom>
          <a:noFill/>
          <a:ln/>
        </p:spPr>
        <p:txBody>
          <a:bodyPr wrap="square" lIns="0" tIns="0" rIns="0" bIns="0" rtlCol="0" anchor="t"/>
          <a:lstStyle/>
          <a:p>
            <a:pPr marL="342900" indent="-342900">
              <a:lnSpc>
                <a:spcPct val="110000"/>
              </a:lnSpc>
              <a:spcAft>
                <a:spcPts val="700"/>
              </a:spcAft>
              <a:buSzPct val="100000"/>
              <a:buChar char="•"/>
            </a:pPr>
            <a:r>
              <a:rPr lang="en-US" sz="1200" dirty="0">
                <a:solidFill>
                  <a:srgbClr val="55555E"/>
                </a:solidFill>
                <a:latin typeface="Calibri" pitchFamily="34" charset="0"/>
                <a:ea typeface="Calibri" pitchFamily="34" charset="-122"/>
                <a:cs typeface="Calibri" pitchFamily="34" charset="-120"/>
              </a:rPr>
              <a:t>nginx, unprivileged, read-only filesystem</a:t>
            </a:r>
            <a:endParaRPr lang="en-US" sz="1200" dirty="0"/>
          </a:p>
          <a:p>
            <a:pPr marL="342900" indent="-342900">
              <a:lnSpc>
                <a:spcPct val="110000"/>
              </a:lnSpc>
              <a:spcAft>
                <a:spcPts val="700"/>
              </a:spcAft>
              <a:buSzPct val="100000"/>
              <a:buChar char="•"/>
            </a:pPr>
            <a:r>
              <a:rPr lang="en-US" sz="1200" dirty="0">
                <a:solidFill>
                  <a:srgbClr val="55555E"/>
                </a:solidFill>
                <a:latin typeface="Calibri" pitchFamily="34" charset="0"/>
                <a:ea typeface="Calibri" pitchFamily="34" charset="-122"/>
                <a:cs typeface="Calibri" pitchFamily="34" charset="-120"/>
              </a:rPr>
              <a:t>Serves the same static files</a:t>
            </a:r>
            <a:endParaRPr lang="en-US" sz="1200" dirty="0"/>
          </a:p>
          <a:p>
            <a:pPr marL="342900" indent="-342900">
              <a:lnSpc>
                <a:spcPct val="110000"/>
              </a:lnSpc>
              <a:spcAft>
                <a:spcPts val="700"/>
              </a:spcAft>
              <a:buSzPct val="100000"/>
              <a:buChar char="•"/>
            </a:pPr>
            <a:r>
              <a:rPr lang="en-US" sz="1200" dirty="0">
                <a:solidFill>
                  <a:srgbClr val="55555E"/>
                </a:solidFill>
                <a:latin typeface="Calibri" pitchFamily="34" charset="0"/>
                <a:ea typeface="Calibri" pitchFamily="34" charset="-122"/>
                <a:cs typeface="Calibri" pitchFamily="34" charset="-120"/>
              </a:rPr>
              <a:t>One port, health endpoint</a:t>
            </a:r>
            <a:endParaRPr lang="en-US" sz="1200" dirty="0"/>
          </a:p>
          <a:p>
            <a:pPr marL="342900" indent="-342900">
              <a:lnSpc>
                <a:spcPct val="110000"/>
              </a:lnSpc>
              <a:spcAft>
                <a:spcPts val="700"/>
              </a:spcAft>
              <a:buSzPct val="100000"/>
              <a:buChar char="•"/>
            </a:pPr>
            <a:r>
              <a:rPr lang="en-US" sz="1200" dirty="0">
                <a:solidFill>
                  <a:srgbClr val="55555E"/>
                </a:solidFill>
                <a:latin typeface="Calibri" pitchFamily="34" charset="0"/>
                <a:ea typeface="Calibri" pitchFamily="34" charset="-122"/>
                <a:cs typeface="Calibri" pitchFamily="34" charset="-120"/>
              </a:rPr>
              <a:t>109 MB image</a:t>
            </a:r>
            <a:endParaRPr lang="en-US" sz="1200" dirty="0"/>
          </a:p>
        </p:txBody>
      </p:sp>
      <p:sp>
        <p:nvSpPr>
          <p:cNvPr id="13" name="Shape 11"/>
          <p:cNvSpPr/>
          <p:nvPr/>
        </p:nvSpPr>
        <p:spPr>
          <a:xfrm>
            <a:off x="7946136" y="2103120"/>
            <a:ext cx="3538728" cy="3520440"/>
          </a:xfrm>
          <a:prstGeom prst="roundRect">
            <a:avLst>
              <a:gd name="adj" fmla="val 1558"/>
            </a:avLst>
          </a:prstGeom>
          <a:solidFill>
            <a:srgbClr val="F4F5F9"/>
          </a:solidFill>
          <a:ln w="9525">
            <a:solidFill>
              <a:srgbClr val="D8DAE6"/>
            </a:solidFill>
            <a:prstDash val="solid"/>
          </a:ln>
        </p:spPr>
      </p:sp>
      <p:sp>
        <p:nvSpPr>
          <p:cNvPr id="14" name="Text 12"/>
          <p:cNvSpPr txBox="1"/>
          <p:nvPr/>
        </p:nvSpPr>
        <p:spPr>
          <a:xfrm>
            <a:off x="8266176" y="2377440"/>
            <a:ext cx="2926080" cy="365760"/>
          </a:xfrm>
          <a:prstGeom prst="rect">
            <a:avLst/>
          </a:prstGeom>
          <a:noFill/>
          <a:ln/>
        </p:spPr>
        <p:txBody>
          <a:bodyPr wrap="square" lIns="0" tIns="0" rIns="0" bIns="0" rtlCol="0" anchor="ctr"/>
          <a:lstStyle/>
          <a:p>
            <a:pPr marL="0" indent="0">
              <a:buNone/>
            </a:pPr>
            <a:r>
              <a:rPr lang="en-US" sz="2100" b="1">
                <a:solidFill>
                  <a:schemeClr val="bg2">
                    <a:lumMod val="75000"/>
                  </a:schemeClr>
                </a:solidFill>
                <a:latin typeface="Cambria" pitchFamily="34" charset="0"/>
                <a:ea typeface="Cambria" pitchFamily="34" charset="-122"/>
                <a:cs typeface="Cambria" pitchFamily="34" charset="-120"/>
              </a:rPr>
              <a:t>Static hosting (unused)</a:t>
            </a:r>
            <a:endParaRPr lang="en-US" sz="2100" dirty="0">
              <a:solidFill>
                <a:schemeClr val="bg2">
                  <a:lumMod val="75000"/>
                </a:schemeClr>
              </a:solidFill>
            </a:endParaRPr>
          </a:p>
        </p:txBody>
      </p:sp>
      <p:sp>
        <p:nvSpPr>
          <p:cNvPr id="15" name="Text 13"/>
          <p:cNvSpPr txBox="1"/>
          <p:nvPr/>
        </p:nvSpPr>
        <p:spPr>
          <a:xfrm>
            <a:off x="8266176" y="2743200"/>
            <a:ext cx="2926080" cy="274320"/>
          </a:xfrm>
          <a:prstGeom prst="rect">
            <a:avLst/>
          </a:prstGeom>
          <a:noFill/>
          <a:ln/>
        </p:spPr>
        <p:txBody>
          <a:bodyPr wrap="square" lIns="0" tIns="0" rIns="0" bIns="0" rtlCol="0" anchor="ctr"/>
          <a:lstStyle/>
          <a:p>
            <a:pPr marL="0" indent="0">
              <a:buNone/>
            </a:pPr>
            <a:r>
              <a:rPr lang="en-US" sz="1100" b="1" kern="0" spc="100" dirty="0">
                <a:solidFill>
                  <a:srgbClr val="6C6F85"/>
                </a:solidFill>
                <a:latin typeface="Calibri" pitchFamily="34" charset="0"/>
                <a:ea typeface="Calibri" pitchFamily="34" charset="-122"/>
                <a:cs typeface="Calibri" pitchFamily="34" charset="-120"/>
              </a:rPr>
              <a:t>Any web server</a:t>
            </a:r>
            <a:endParaRPr lang="en-US" sz="1100" dirty="0"/>
          </a:p>
        </p:txBody>
      </p:sp>
      <p:sp>
        <p:nvSpPr>
          <p:cNvPr id="16" name="Text 14"/>
          <p:cNvSpPr txBox="1"/>
          <p:nvPr/>
        </p:nvSpPr>
        <p:spPr>
          <a:xfrm>
            <a:off x="8266176" y="3108960"/>
            <a:ext cx="2926080" cy="2286000"/>
          </a:xfrm>
          <a:prstGeom prst="rect">
            <a:avLst/>
          </a:prstGeom>
          <a:noFill/>
          <a:ln/>
        </p:spPr>
        <p:txBody>
          <a:bodyPr wrap="square" lIns="0" tIns="0" rIns="0" bIns="0" rtlCol="0" anchor="t"/>
          <a:lstStyle/>
          <a:p>
            <a:pPr marL="342900" indent="-342900">
              <a:lnSpc>
                <a:spcPct val="110000"/>
              </a:lnSpc>
              <a:spcAft>
                <a:spcPts val="700"/>
              </a:spcAft>
              <a:buSzPct val="100000"/>
              <a:buChar char="•"/>
            </a:pPr>
            <a:r>
              <a:rPr lang="en-US" sz="1200" dirty="0">
                <a:solidFill>
                  <a:srgbClr val="55555E"/>
                </a:solidFill>
                <a:latin typeface="Calibri" pitchFamily="34" charset="0"/>
                <a:ea typeface="Calibri" pitchFamily="34" charset="-122"/>
                <a:cs typeface="Calibri" pitchFamily="34" charset="-120"/>
              </a:rPr>
              <a:t>Plain files over HTTPS</a:t>
            </a:r>
            <a:endParaRPr lang="en-US" sz="1200" dirty="0"/>
          </a:p>
          <a:p>
            <a:pPr marL="342900" indent="-342900">
              <a:lnSpc>
                <a:spcPct val="110000"/>
              </a:lnSpc>
              <a:spcAft>
                <a:spcPts val="700"/>
              </a:spcAft>
              <a:buSzPct val="100000"/>
              <a:buChar char="•"/>
            </a:pPr>
            <a:r>
              <a:rPr lang="en-US" sz="1200" dirty="0">
                <a:solidFill>
                  <a:srgbClr val="55555E"/>
                </a:solidFill>
                <a:latin typeface="Calibri" pitchFamily="34" charset="0"/>
                <a:ea typeface="Calibri" pitchFamily="34" charset="-122"/>
                <a:cs typeface="Calibri" pitchFamily="34" charset="-120"/>
              </a:rPr>
              <a:t>Runs in the browser ITS already manages</a:t>
            </a:r>
            <a:endParaRPr lang="en-US" sz="1200" dirty="0"/>
          </a:p>
          <a:p>
            <a:pPr marL="342900" indent="-342900">
              <a:lnSpc>
                <a:spcPct val="110000"/>
              </a:lnSpc>
              <a:spcAft>
                <a:spcPts val="700"/>
              </a:spcAft>
              <a:buSzPct val="100000"/>
              <a:buChar char="•"/>
            </a:pPr>
            <a:r>
              <a:rPr lang="en-US" sz="1200" dirty="0">
                <a:solidFill>
                  <a:srgbClr val="55555E"/>
                </a:solidFill>
                <a:latin typeface="Calibri" pitchFamily="34" charset="0"/>
                <a:ea typeface="Calibri" pitchFamily="34" charset="-122"/>
                <a:cs typeface="Calibri" pitchFamily="34" charset="-120"/>
              </a:rPr>
              <a:t>No runtime to patch separately</a:t>
            </a:r>
            <a:endParaRPr lang="en-US" sz="1200" dirty="0"/>
          </a:p>
          <a:p>
            <a:pPr marL="342900" indent="-342900">
              <a:lnSpc>
                <a:spcPct val="110000"/>
              </a:lnSpc>
              <a:spcAft>
                <a:spcPts val="700"/>
              </a:spcAft>
              <a:buSzPct val="100000"/>
              <a:buChar char="•"/>
            </a:pPr>
            <a:r>
              <a:rPr lang="en-US" sz="1200" dirty="0">
                <a:solidFill>
                  <a:srgbClr val="55555E"/>
                </a:solidFill>
                <a:latin typeface="Calibri" pitchFamily="34" charset="0"/>
                <a:ea typeface="Calibri" pitchFamily="34" charset="-122"/>
                <a:cs typeface="Calibri" pitchFamily="34" charset="-120"/>
              </a:rPr>
              <a:t>20 MB</a:t>
            </a:r>
            <a:endParaRPr lang="en-US" sz="1200" dirty="0"/>
          </a:p>
        </p:txBody>
      </p:sp>
      <p:pic>
        <p:nvPicPr>
          <p:cNvPr id="17" name="Image 0" descr="C:\Users\nguye\AppData\Local\Temp\claude\E--WORK-OFFLINE-apps-Adflow\c4dbe0b3-8f3b-4a26-ba73-6ba5f8057916\scratchpad\brand\rmit-full.png"/>
          <p:cNvPicPr>
            <a:picLocks noChangeAspect="1"/>
          </p:cNvPicPr>
          <p:nvPr/>
        </p:nvPicPr>
        <p:blipFill>
          <a:blip r:embed="rId3"/>
          <a:stretch>
            <a:fillRect/>
          </a:stretch>
        </p:blipFill>
        <p:spPr>
          <a:xfrm>
            <a:off x="594360" y="6272784"/>
            <a:ext cx="841248" cy="292033"/>
          </a:xfrm>
          <a:prstGeom prst="rect">
            <a:avLst/>
          </a:prstGeom>
        </p:spPr>
      </p:pic>
      <p:sp>
        <p:nvSpPr>
          <p:cNvPr id="18" name="Text 15"/>
          <p:cNvSpPr txBox="1"/>
          <p:nvPr/>
        </p:nvSpPr>
        <p:spPr>
          <a:xfrm>
            <a:off x="1572768" y="6309360"/>
            <a:ext cx="6400800" cy="256032"/>
          </a:xfrm>
          <a:prstGeom prst="rect">
            <a:avLst/>
          </a:prstGeom>
          <a:noFill/>
          <a:ln/>
        </p:spPr>
        <p:txBody>
          <a:bodyPr wrap="square" lIns="0" tIns="0" rIns="0" bIns="0" rtlCol="0" anchor="ctr"/>
          <a:lstStyle/>
          <a:p>
            <a:pPr marL="0" indent="0">
              <a:buNone/>
            </a:pPr>
            <a:r>
              <a:rPr lang="en-US" sz="900" dirty="0">
                <a:solidFill>
                  <a:srgbClr val="9C9FB4"/>
                </a:solidFill>
                <a:latin typeface="Calibri" pitchFamily="34" charset="0"/>
                <a:ea typeface="Calibri" pitchFamily="34" charset="-122"/>
                <a:cs typeface="Calibri" pitchFamily="34" charset="-120"/>
              </a:rPr>
              <a:t>Adflow  ·  v0.61.1  ·  ITS review</a:t>
            </a:r>
            <a:endParaRPr lang="en-US" sz="900" dirty="0"/>
          </a:p>
        </p:txBody>
      </p:sp>
      <p:sp>
        <p:nvSpPr>
          <p:cNvPr id="19" name="Text 16"/>
          <p:cNvSpPr txBox="1"/>
          <p:nvPr/>
        </p:nvSpPr>
        <p:spPr>
          <a:xfrm>
            <a:off x="11064240" y="6309360"/>
            <a:ext cx="502920" cy="256032"/>
          </a:xfrm>
          <a:prstGeom prst="rect">
            <a:avLst/>
          </a:prstGeom>
          <a:noFill/>
          <a:ln/>
        </p:spPr>
        <p:txBody>
          <a:bodyPr wrap="square" lIns="0" tIns="0" rIns="0" bIns="0" rtlCol="0" anchor="ctr"/>
          <a:lstStyle/>
          <a:p>
            <a:pPr marL="0" indent="0" algn="r">
              <a:buNone/>
            </a:pPr>
            <a:r>
              <a:rPr lang="en-US" sz="900" dirty="0">
                <a:solidFill>
                  <a:srgbClr val="9C9FB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46304"/>
            <a:ext cx="10972800" cy="274320"/>
          </a:xfrm>
          <a:prstGeom prst="rect">
            <a:avLst/>
          </a:prstGeom>
          <a:noFill/>
          <a:ln/>
        </p:spPr>
        <p:txBody>
          <a:bodyPr wrap="square" lIns="0" tIns="0" rIns="0" bIns="0" rtlCol="0" anchor="ctr"/>
          <a:lstStyle/>
          <a:p>
            <a:pPr marL="0" indent="0" algn="l">
              <a:buNone/>
            </a:pPr>
            <a:r>
              <a:rPr lang="en-US" sz="1100" b="1" kern="0" spc="200" dirty="0">
                <a:solidFill>
                  <a:srgbClr val="E61E2A"/>
                </a:solidFill>
                <a:latin typeface="Calibri" pitchFamily="34" charset="0"/>
                <a:ea typeface="Calibri" pitchFamily="34" charset="-122"/>
                <a:cs typeface="Calibri" pitchFamily="34" charset="-120"/>
              </a:rPr>
              <a:t>DATA</a:t>
            </a:r>
            <a:endParaRPr lang="en-US" sz="1100" dirty="0"/>
          </a:p>
        </p:txBody>
      </p:sp>
      <p:sp>
        <p:nvSpPr>
          <p:cNvPr id="3" name="Text 1"/>
          <p:cNvSpPr txBox="1"/>
          <p:nvPr/>
        </p:nvSpPr>
        <p:spPr>
          <a:xfrm>
            <a:off x="594360" y="411480"/>
            <a:ext cx="10972800" cy="685800"/>
          </a:xfrm>
          <a:prstGeom prst="rect">
            <a:avLst/>
          </a:prstGeom>
          <a:noFill/>
          <a:ln/>
        </p:spPr>
        <p:txBody>
          <a:bodyPr wrap="square" lIns="0" tIns="0" rIns="0" bIns="0" rtlCol="0" anchor="ctr"/>
          <a:lstStyle/>
          <a:p>
            <a:pPr marL="0" indent="0" algn="l">
              <a:buNone/>
            </a:pPr>
            <a:r>
              <a:rPr lang="en-US" sz="3400" b="1" dirty="0">
                <a:solidFill>
                  <a:srgbClr val="000054"/>
                </a:solidFill>
                <a:latin typeface="Cambria" pitchFamily="34" charset="0"/>
                <a:ea typeface="Cambria" pitchFamily="34" charset="-122"/>
                <a:cs typeface="Cambria" pitchFamily="34" charset="-120"/>
              </a:rPr>
              <a:t>Everything stays on the user’s machine</a:t>
            </a:r>
            <a:endParaRPr lang="en-US" sz="3400" dirty="0"/>
          </a:p>
        </p:txBody>
      </p:sp>
      <p:sp>
        <p:nvSpPr>
          <p:cNvPr id="4" name="Text 2"/>
          <p:cNvSpPr txBox="1"/>
          <p:nvPr/>
        </p:nvSpPr>
        <p:spPr>
          <a:xfrm>
            <a:off x="594360" y="1188720"/>
            <a:ext cx="10881360" cy="502920"/>
          </a:xfrm>
          <a:prstGeom prst="rect">
            <a:avLst/>
          </a:prstGeom>
          <a:noFill/>
          <a:ln/>
        </p:spPr>
        <p:txBody>
          <a:bodyPr wrap="square" lIns="0" tIns="0" rIns="0" bIns="0" rtlCol="0" anchor="t"/>
          <a:lstStyle/>
          <a:p>
            <a:pPr marL="0" indent="0" algn="l">
              <a:lnSpc>
                <a:spcPct val="120000"/>
              </a:lnSpc>
              <a:buNone/>
            </a:pPr>
            <a:r>
              <a:rPr lang="en-US" sz="1500" dirty="0">
                <a:solidFill>
                  <a:srgbClr val="6C6F85"/>
                </a:solidFill>
                <a:latin typeface="Calibri" pitchFamily="34" charset="0"/>
                <a:ea typeface="Calibri" pitchFamily="34" charset="-122"/>
                <a:cs typeface="Calibri" pitchFamily="34" charset="-120"/>
              </a:rPr>
              <a:t>There is no institutional system holding any of it, so no retention or residency question arises.</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920240"/>
          <a:ext cx="10881360" cy="1901952"/>
        </p:xfrm>
        <a:graphic>
          <a:graphicData uri="http://schemas.openxmlformats.org/drawingml/2006/table">
            <a:tbl>
              <a:tblPr/>
              <a:tblGrid>
                <a:gridCol w="512064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tblGrid>
              <a:tr h="47548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solidFill>
                      <a:srgbClr val="00005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Where it lives</a:t>
                      </a:r>
                      <a:endParaRPr lang="en-US" sz="130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solidFill>
                      <a:srgbClr val="000054"/>
                    </a:solidFill>
                  </a:tcPr>
                </a:tc>
                <a:extLst>
                  <a:ext uri="{0D108BD9-81ED-4DB2-BD59-A6C34878D82A}">
                    <a16:rowId xmlns:a16="http://schemas.microsoft.com/office/drawing/2014/main" val="10000"/>
                  </a:ext>
                </a:extLst>
              </a:tr>
              <a:tr h="475488">
                <a:tc>
                  <a:txBody>
                    <a:bodyPr/>
                    <a:lstStyle/>
                    <a:p>
                      <a:pPr marL="0" indent="0">
                        <a:buNone/>
                      </a:pPr>
                      <a:r>
                        <a:rPr lang="en-US" sz="1300" dirty="0">
                          <a:solidFill>
                            <a:srgbClr val="33333B"/>
                          </a:solidFill>
                          <a:latin typeface="Calibri" pitchFamily="34" charset="0"/>
                          <a:ea typeface="Calibri" pitchFamily="34" charset="-122"/>
                          <a:cs typeface="Calibri" pitchFamily="34" charset="-120"/>
                        </a:rPr>
                        <a:t>Work in progress, recent projects, preferences</a:t>
                      </a:r>
                      <a:endParaRPr lang="en-US" sz="130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300" dirty="0">
                          <a:solidFill>
                            <a:srgbClr val="33333B"/>
                          </a:solidFill>
                          <a:latin typeface="Calibri" pitchFamily="34" charset="0"/>
                          <a:ea typeface="Calibri" pitchFamily="34" charset="-122"/>
                          <a:cs typeface="Calibri" pitchFamily="34" charset="-120"/>
                        </a:rPr>
                        <a:t>The app’s own local storage, on that machine</a:t>
                      </a:r>
                      <a:endParaRPr lang="en-US" sz="130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300" dirty="0">
                          <a:solidFill>
                            <a:srgbClr val="33333B"/>
                          </a:solidFill>
                          <a:latin typeface="Calibri" pitchFamily="34" charset="0"/>
                          <a:ea typeface="Calibri" pitchFamily="34" charset="-122"/>
                          <a:cs typeface="Calibri" pitchFamily="34" charset="-120"/>
                        </a:rPr>
                        <a:t>Projects the user chooses to keep</a:t>
                      </a:r>
                      <a:endParaRPr lang="en-US" sz="130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300" dirty="0">
                          <a:solidFill>
                            <a:srgbClr val="33333B"/>
                          </a:solidFill>
                          <a:latin typeface="Calibri" pitchFamily="34" charset="0"/>
                          <a:ea typeface="Calibri" pitchFamily="34" charset="-122"/>
                          <a:cs typeface="Calibri" pitchFamily="34" charset="-120"/>
                        </a:rPr>
                        <a:t>.flow files, wherever the user saves them</a:t>
                      </a:r>
                      <a:endParaRPr lang="en-US" sz="130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300" dirty="0">
                          <a:solidFill>
                            <a:srgbClr val="33333B"/>
                          </a:solidFill>
                          <a:latin typeface="Calibri" pitchFamily="34" charset="0"/>
                          <a:ea typeface="Calibri" pitchFamily="34" charset="-122"/>
                          <a:cs typeface="Calibri" pitchFamily="34" charset="-120"/>
                        </a:rPr>
                        <a:t>Exported ads</a:t>
                      </a:r>
                      <a:endParaRPr lang="en-US" sz="130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300" dirty="0">
                          <a:solidFill>
                            <a:srgbClr val="33333B"/>
                          </a:solidFill>
                          <a:latin typeface="Calibri" pitchFamily="34" charset="0"/>
                          <a:ea typeface="Calibri" pitchFamily="34" charset="-122"/>
                          <a:cs typeface="Calibri" pitchFamily="34" charset="-120"/>
                        </a:rPr>
                        <a:t>ZIP, PNG, MP4 or GIF files, wherever the user saves them</a:t>
                      </a:r>
                      <a:endParaRPr lang="en-US" sz="130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3"/>
          <p:cNvSpPr/>
          <p:nvPr/>
        </p:nvSpPr>
        <p:spPr>
          <a:xfrm>
            <a:off x="594360" y="3977640"/>
            <a:ext cx="5321808" cy="1737360"/>
          </a:xfrm>
          <a:prstGeom prst="roundRect">
            <a:avLst>
              <a:gd name="adj" fmla="val 3158"/>
            </a:avLst>
          </a:prstGeom>
          <a:solidFill>
            <a:srgbClr val="F4F5F9"/>
          </a:solidFill>
          <a:ln w="9525">
            <a:solidFill>
              <a:srgbClr val="D8DAE6"/>
            </a:solidFill>
            <a:prstDash val="solid"/>
          </a:ln>
        </p:spPr>
      </p:sp>
      <p:sp>
        <p:nvSpPr>
          <p:cNvPr id="7" name="Text 4"/>
          <p:cNvSpPr txBox="1"/>
          <p:nvPr/>
        </p:nvSpPr>
        <p:spPr>
          <a:xfrm>
            <a:off x="960120" y="4206240"/>
            <a:ext cx="4572000" cy="320040"/>
          </a:xfrm>
          <a:prstGeom prst="rect">
            <a:avLst/>
          </a:prstGeom>
          <a:noFill/>
          <a:ln/>
        </p:spPr>
        <p:txBody>
          <a:bodyPr wrap="square" lIns="0" tIns="0" rIns="0" bIns="0" rtlCol="0" anchor="ctr"/>
          <a:lstStyle/>
          <a:p>
            <a:pPr marL="0" indent="0">
              <a:buNone/>
            </a:pPr>
            <a:r>
              <a:rPr lang="en-US" sz="1500" b="1" dirty="0">
                <a:solidFill>
                  <a:srgbClr val="000054"/>
                </a:solidFill>
                <a:latin typeface="Calibri" pitchFamily="34" charset="0"/>
                <a:ea typeface="Calibri" pitchFamily="34" charset="-122"/>
                <a:cs typeface="Calibri" pitchFamily="34" charset="-120"/>
              </a:rPr>
              <a:t>No telemetry</a:t>
            </a:r>
            <a:endParaRPr lang="en-US" sz="1500" dirty="0"/>
          </a:p>
        </p:txBody>
      </p:sp>
      <p:sp>
        <p:nvSpPr>
          <p:cNvPr id="8" name="Text 5"/>
          <p:cNvSpPr txBox="1"/>
          <p:nvPr/>
        </p:nvSpPr>
        <p:spPr>
          <a:xfrm>
            <a:off x="960120" y="4553712"/>
            <a:ext cx="4663440" cy="914400"/>
          </a:xfrm>
          <a:prstGeom prst="rect">
            <a:avLst/>
          </a:prstGeom>
          <a:noFill/>
          <a:ln/>
        </p:spPr>
        <p:txBody>
          <a:bodyPr wrap="square" lIns="0" tIns="0" rIns="0" bIns="0" rtlCol="0" anchor="t"/>
          <a:lstStyle/>
          <a:p>
            <a:pPr marL="0" indent="0">
              <a:lnSpc>
                <a:spcPct val="120000"/>
              </a:lnSpc>
              <a:buNone/>
            </a:pPr>
            <a:r>
              <a:rPr lang="en-US" sz="1250" dirty="0">
                <a:solidFill>
                  <a:srgbClr val="6C6F85"/>
                </a:solidFill>
                <a:latin typeface="Calibri" pitchFamily="34" charset="0"/>
                <a:ea typeface="Calibri" pitchFamily="34" charset="-122"/>
                <a:cs typeface="Calibri" pitchFamily="34" charset="-120"/>
              </a:rPr>
              <a:t>No analytics, no crash reporting, no licence check and no usage tracking anywhere in the codebase.</a:t>
            </a:r>
            <a:endParaRPr lang="en-US" sz="1250" dirty="0"/>
          </a:p>
        </p:txBody>
      </p:sp>
      <p:sp>
        <p:nvSpPr>
          <p:cNvPr id="9" name="Shape 6"/>
          <p:cNvSpPr/>
          <p:nvPr/>
        </p:nvSpPr>
        <p:spPr>
          <a:xfrm>
            <a:off x="6153912" y="3977640"/>
            <a:ext cx="5321808" cy="1737360"/>
          </a:xfrm>
          <a:prstGeom prst="roundRect">
            <a:avLst>
              <a:gd name="adj" fmla="val 3158"/>
            </a:avLst>
          </a:prstGeom>
          <a:solidFill>
            <a:srgbClr val="F4F5F9"/>
          </a:solidFill>
          <a:ln w="9525">
            <a:solidFill>
              <a:srgbClr val="D8DAE6"/>
            </a:solidFill>
            <a:prstDash val="solid"/>
          </a:ln>
        </p:spPr>
      </p:sp>
      <p:sp>
        <p:nvSpPr>
          <p:cNvPr id="10" name="Text 7"/>
          <p:cNvSpPr txBox="1"/>
          <p:nvPr/>
        </p:nvSpPr>
        <p:spPr>
          <a:xfrm>
            <a:off x="6519672" y="4206240"/>
            <a:ext cx="4572000" cy="320040"/>
          </a:xfrm>
          <a:prstGeom prst="rect">
            <a:avLst/>
          </a:prstGeom>
          <a:noFill/>
          <a:ln/>
        </p:spPr>
        <p:txBody>
          <a:bodyPr wrap="square" lIns="0" tIns="0" rIns="0" bIns="0" rtlCol="0" anchor="ctr"/>
          <a:lstStyle/>
          <a:p>
            <a:pPr marL="0" indent="0">
              <a:buNone/>
            </a:pPr>
            <a:r>
              <a:rPr lang="en-US" sz="1500" b="1" dirty="0">
                <a:solidFill>
                  <a:srgbClr val="000054"/>
                </a:solidFill>
                <a:latin typeface="Calibri" pitchFamily="34" charset="0"/>
                <a:ea typeface="Calibri" pitchFamily="34" charset="-122"/>
                <a:cs typeface="Calibri" pitchFamily="34" charset="-120"/>
              </a:rPr>
              <a:t>Nothing to clean up</a:t>
            </a:r>
            <a:endParaRPr lang="en-US" sz="1500" dirty="0"/>
          </a:p>
        </p:txBody>
      </p:sp>
      <p:sp>
        <p:nvSpPr>
          <p:cNvPr id="11" name="Text 8"/>
          <p:cNvSpPr txBox="1"/>
          <p:nvPr/>
        </p:nvSpPr>
        <p:spPr>
          <a:xfrm>
            <a:off x="6519672" y="4553712"/>
            <a:ext cx="4663440" cy="914400"/>
          </a:xfrm>
          <a:prstGeom prst="rect">
            <a:avLst/>
          </a:prstGeom>
          <a:noFill/>
          <a:ln/>
        </p:spPr>
        <p:txBody>
          <a:bodyPr wrap="square" lIns="0" tIns="0" rIns="0" bIns="0" rtlCol="0" anchor="t"/>
          <a:lstStyle/>
          <a:p>
            <a:pPr marL="0" indent="0">
              <a:lnSpc>
                <a:spcPct val="120000"/>
              </a:lnSpc>
              <a:buNone/>
            </a:pPr>
            <a:r>
              <a:rPr lang="en-US" sz="1250" dirty="0">
                <a:solidFill>
                  <a:srgbClr val="6C6F85"/>
                </a:solidFill>
                <a:latin typeface="Calibri" pitchFamily="34" charset="0"/>
                <a:ea typeface="Calibri" pitchFamily="34" charset="-122"/>
                <a:cs typeface="Calibri" pitchFamily="34" charset="-120"/>
              </a:rPr>
              <a:t>Deleting the folder removes the application. Clearing its local data removes everything it holds.</a:t>
            </a:r>
            <a:endParaRPr lang="en-US" sz="1250" dirty="0"/>
          </a:p>
        </p:txBody>
      </p:sp>
      <p:pic>
        <p:nvPicPr>
          <p:cNvPr id="12" name="Image 0" descr="C:\Users\nguye\AppData\Local\Temp\claude\E--WORK-OFFLINE-apps-Adflow\c4dbe0b3-8f3b-4a26-ba73-6ba5f8057916\scratchpad\brand\rmit-full.png"/>
          <p:cNvPicPr>
            <a:picLocks noChangeAspect="1"/>
          </p:cNvPicPr>
          <p:nvPr/>
        </p:nvPicPr>
        <p:blipFill>
          <a:blip r:embed="rId3"/>
          <a:stretch>
            <a:fillRect/>
          </a:stretch>
        </p:blipFill>
        <p:spPr>
          <a:xfrm>
            <a:off x="594360" y="6272784"/>
            <a:ext cx="841248" cy="292033"/>
          </a:xfrm>
          <a:prstGeom prst="rect">
            <a:avLst/>
          </a:prstGeom>
        </p:spPr>
      </p:pic>
      <p:sp>
        <p:nvSpPr>
          <p:cNvPr id="13" name="Text 9"/>
          <p:cNvSpPr txBox="1"/>
          <p:nvPr/>
        </p:nvSpPr>
        <p:spPr>
          <a:xfrm>
            <a:off x="1572768" y="6309360"/>
            <a:ext cx="6400800" cy="256032"/>
          </a:xfrm>
          <a:prstGeom prst="rect">
            <a:avLst/>
          </a:prstGeom>
          <a:noFill/>
          <a:ln/>
        </p:spPr>
        <p:txBody>
          <a:bodyPr wrap="square" lIns="0" tIns="0" rIns="0" bIns="0" rtlCol="0" anchor="ctr"/>
          <a:lstStyle/>
          <a:p>
            <a:pPr marL="0" indent="0">
              <a:buNone/>
            </a:pPr>
            <a:r>
              <a:rPr lang="en-US" sz="900" dirty="0">
                <a:solidFill>
                  <a:srgbClr val="9C9FB4"/>
                </a:solidFill>
                <a:latin typeface="Calibri" pitchFamily="34" charset="0"/>
                <a:ea typeface="Calibri" pitchFamily="34" charset="-122"/>
                <a:cs typeface="Calibri" pitchFamily="34" charset="-120"/>
              </a:rPr>
              <a:t>Adflow  ·  v0.61.1  ·  ITS review</a:t>
            </a:r>
            <a:endParaRPr lang="en-US" sz="900" dirty="0"/>
          </a:p>
        </p:txBody>
      </p:sp>
      <p:sp>
        <p:nvSpPr>
          <p:cNvPr id="14" name="Text 10"/>
          <p:cNvSpPr txBox="1"/>
          <p:nvPr/>
        </p:nvSpPr>
        <p:spPr>
          <a:xfrm>
            <a:off x="11064240" y="6309360"/>
            <a:ext cx="502920" cy="256032"/>
          </a:xfrm>
          <a:prstGeom prst="rect">
            <a:avLst/>
          </a:prstGeom>
          <a:noFill/>
          <a:ln/>
        </p:spPr>
        <p:txBody>
          <a:bodyPr wrap="square" lIns="0" tIns="0" rIns="0" bIns="0" rtlCol="0" anchor="ctr"/>
          <a:lstStyle/>
          <a:p>
            <a:pPr marL="0" indent="0" algn="r">
              <a:buNone/>
            </a:pPr>
            <a:r>
              <a:rPr lang="en-US" sz="900" dirty="0">
                <a:solidFill>
                  <a:srgbClr val="9C9FB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46304"/>
            <a:ext cx="10972800" cy="274320"/>
          </a:xfrm>
          <a:prstGeom prst="rect">
            <a:avLst/>
          </a:prstGeom>
          <a:noFill/>
          <a:ln/>
        </p:spPr>
        <p:txBody>
          <a:bodyPr wrap="square" lIns="0" tIns="0" rIns="0" bIns="0" rtlCol="0" anchor="ctr"/>
          <a:lstStyle/>
          <a:p>
            <a:pPr marL="0" indent="0" algn="l">
              <a:buNone/>
            </a:pPr>
            <a:r>
              <a:rPr lang="en-US" sz="1100" b="1" kern="0" spc="200" dirty="0">
                <a:solidFill>
                  <a:srgbClr val="E61E2A"/>
                </a:solidFill>
                <a:latin typeface="Calibri" pitchFamily="34" charset="0"/>
                <a:ea typeface="Calibri" pitchFamily="34" charset="-122"/>
                <a:cs typeface="Calibri" pitchFamily="34" charset="-120"/>
              </a:rPr>
              <a:t>NETWORK</a:t>
            </a:r>
            <a:endParaRPr lang="en-US" sz="1100" dirty="0"/>
          </a:p>
        </p:txBody>
      </p:sp>
      <p:sp>
        <p:nvSpPr>
          <p:cNvPr id="3" name="Text 1"/>
          <p:cNvSpPr txBox="1"/>
          <p:nvPr/>
        </p:nvSpPr>
        <p:spPr>
          <a:xfrm>
            <a:off x="594360" y="411480"/>
            <a:ext cx="10972800" cy="685800"/>
          </a:xfrm>
          <a:prstGeom prst="rect">
            <a:avLst/>
          </a:prstGeom>
          <a:noFill/>
          <a:ln/>
        </p:spPr>
        <p:txBody>
          <a:bodyPr wrap="square" lIns="0" tIns="0" rIns="0" bIns="0" rtlCol="0" anchor="ctr"/>
          <a:lstStyle/>
          <a:p>
            <a:pPr marL="0" indent="0" algn="l">
              <a:buNone/>
            </a:pPr>
            <a:r>
              <a:rPr lang="en-US" sz="3400" b="1" dirty="0">
                <a:solidFill>
                  <a:srgbClr val="000054"/>
                </a:solidFill>
                <a:latin typeface="Cambria" pitchFamily="34" charset="0"/>
                <a:ea typeface="Cambria" pitchFamily="34" charset="-122"/>
                <a:cs typeface="Cambria" pitchFamily="34" charset="-120"/>
              </a:rPr>
              <a:t>One listening port, bound to loopback</a:t>
            </a:r>
            <a:endParaRPr lang="en-US" sz="3400" dirty="0"/>
          </a:p>
        </p:txBody>
      </p:sp>
      <p:sp>
        <p:nvSpPr>
          <p:cNvPr id="4" name="Text 2"/>
          <p:cNvSpPr txBox="1"/>
          <p:nvPr/>
        </p:nvSpPr>
        <p:spPr>
          <a:xfrm>
            <a:off x="594360" y="1188720"/>
            <a:ext cx="10881360" cy="502920"/>
          </a:xfrm>
          <a:prstGeom prst="rect">
            <a:avLst/>
          </a:prstGeom>
          <a:noFill/>
          <a:ln/>
        </p:spPr>
        <p:txBody>
          <a:bodyPr wrap="square" lIns="0" tIns="0" rIns="0" bIns="0" rtlCol="0" anchor="t"/>
          <a:lstStyle/>
          <a:p>
            <a:pPr marL="0" indent="0" algn="l">
              <a:lnSpc>
                <a:spcPct val="120000"/>
              </a:lnSpc>
              <a:buNone/>
            </a:pPr>
            <a:r>
              <a:rPr lang="en-US" sz="1500" dirty="0">
                <a:solidFill>
                  <a:srgbClr val="6C6F85"/>
                </a:solidFill>
                <a:latin typeface="Calibri" pitchFamily="34" charset="0"/>
                <a:ea typeface="Calibri" pitchFamily="34" charset="-122"/>
                <a:cs typeface="Calibri" pitchFamily="34" charset="-120"/>
              </a:rPr>
              <a:t>The desktop app serves its own files to itself so the ad previews get a real web origin. That server is the only network component.</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2148840"/>
          <a:ext cx="10881360" cy="2667000"/>
        </p:xfrm>
        <a:graphic>
          <a:graphicData uri="http://schemas.openxmlformats.org/drawingml/2006/table">
            <a:tbl>
              <a:tblPr/>
              <a:tblGrid>
                <a:gridCol w="411480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tblGrid>
              <a:tr h="438912">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Question</a:t>
                      </a:r>
                      <a:endParaRPr lang="en-US" sz="125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solidFill>
                      <a:srgbClr val="00005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Answer</a:t>
                      </a:r>
                      <a:endParaRPr lang="en-US" sz="125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solidFill>
                      <a:srgbClr val="000054"/>
                    </a:solidFill>
                  </a:tcPr>
                </a:tc>
                <a:extLst>
                  <a:ext uri="{0D108BD9-81ED-4DB2-BD59-A6C34878D82A}">
                    <a16:rowId xmlns:a16="http://schemas.microsoft.com/office/drawing/2014/main" val="10000"/>
                  </a:ext>
                </a:extLst>
              </a:tr>
              <a:tr h="438912">
                <a:tc>
                  <a:txBody>
                    <a:bodyPr/>
                    <a:lstStyle/>
                    <a:p>
                      <a:pPr marL="0" indent="0">
                        <a:buNone/>
                      </a:pPr>
                      <a:r>
                        <a:rPr lang="en-US" sz="1250" dirty="0">
                          <a:solidFill>
                            <a:srgbClr val="33333B"/>
                          </a:solidFill>
                          <a:latin typeface="Calibri" pitchFamily="34" charset="0"/>
                          <a:ea typeface="Calibri" pitchFamily="34" charset="-122"/>
                          <a:cs typeface="Calibri" pitchFamily="34" charset="-120"/>
                        </a:rPr>
                        <a:t>Outbound connections at runtime</a:t>
                      </a:r>
                      <a:endParaRPr lang="en-US" sz="125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50" dirty="0">
                          <a:solidFill>
                            <a:srgbClr val="33333B"/>
                          </a:solidFill>
                          <a:latin typeface="Calibri" pitchFamily="34" charset="0"/>
                          <a:ea typeface="Calibri" pitchFamily="34" charset="-122"/>
                          <a:cs typeface="Calibri" pitchFamily="34" charset="-120"/>
                        </a:rPr>
                        <a:t>None. The only host contacted is 127.0.0.1</a:t>
                      </a:r>
                      <a:endParaRPr lang="en-US" sz="125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250" dirty="0">
                          <a:solidFill>
                            <a:srgbClr val="33333B"/>
                          </a:solidFill>
                          <a:latin typeface="Calibri" pitchFamily="34" charset="0"/>
                          <a:ea typeface="Calibri" pitchFamily="34" charset="-122"/>
                          <a:cs typeface="Calibri" pitchFamily="34" charset="-120"/>
                        </a:rPr>
                        <a:t>Listening ports</a:t>
                      </a:r>
                      <a:endParaRPr lang="en-US" sz="125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50" dirty="0">
                          <a:solidFill>
                            <a:srgbClr val="33333B"/>
                          </a:solidFill>
                          <a:latin typeface="Calibri" pitchFamily="34" charset="0"/>
                          <a:ea typeface="Calibri" pitchFamily="34" charset="-122"/>
                          <a:cs typeface="Calibri" pitchFamily="34" charset="-120"/>
                        </a:rPr>
                        <a:t>One, on 127.0.0.1:47823 — verified unreachable from the machine’s LAN address</a:t>
                      </a:r>
                      <a:endParaRPr lang="en-US" sz="125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250" dirty="0">
                          <a:solidFill>
                            <a:srgbClr val="33333B"/>
                          </a:solidFill>
                          <a:latin typeface="Calibri" pitchFamily="34" charset="0"/>
                          <a:ea typeface="Calibri" pitchFamily="34" charset="-122"/>
                          <a:cs typeface="Calibri" pitchFamily="34" charset="-120"/>
                        </a:rPr>
                        <a:t>Auto-update channel</a:t>
                      </a:r>
                      <a:endParaRPr lang="en-US" sz="125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50" dirty="0">
                          <a:solidFill>
                            <a:srgbClr val="33333B"/>
                          </a:solidFill>
                          <a:latin typeface="Calibri" pitchFamily="34" charset="0"/>
                          <a:ea typeface="Calibri" pitchFamily="34" charset="-122"/>
                          <a:cs typeface="Calibri" pitchFamily="34" charset="-120"/>
                        </a:rPr>
                        <a:t>None. Updates are a new folder, handed over deliberately</a:t>
                      </a:r>
                      <a:endParaRPr lang="en-US" sz="125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1250" dirty="0">
                          <a:solidFill>
                            <a:srgbClr val="33333B"/>
                          </a:solidFill>
                          <a:latin typeface="Calibri" pitchFamily="34" charset="0"/>
                          <a:ea typeface="Calibri" pitchFamily="34" charset="-122"/>
                          <a:cs typeface="Calibri" pitchFamily="34" charset="-120"/>
                        </a:rPr>
                        <a:t>Third-party CDNs</a:t>
                      </a:r>
                      <a:endParaRPr lang="en-US" sz="125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50" dirty="0">
                          <a:solidFill>
                            <a:srgbClr val="33333B"/>
                          </a:solidFill>
                          <a:latin typeface="Calibri" pitchFamily="34" charset="0"/>
                          <a:ea typeface="Calibri" pitchFamily="34" charset="-122"/>
                          <a:cs typeface="Calibri" pitchFamily="34" charset="-120"/>
                        </a:rPr>
                        <a:t>None. Every library and font is served from inside the app</a:t>
                      </a:r>
                      <a:endParaRPr lang="en-US" sz="125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extLst>
                  <a:ext uri="{0D108BD9-81ED-4DB2-BD59-A6C34878D82A}">
                    <a16:rowId xmlns:a16="http://schemas.microsoft.com/office/drawing/2014/main" val="10004"/>
                  </a:ext>
                </a:extLst>
              </a:tr>
              <a:tr h="438912">
                <a:tc>
                  <a:txBody>
                    <a:bodyPr/>
                    <a:lstStyle/>
                    <a:p>
                      <a:pPr marL="0" indent="0">
                        <a:buNone/>
                      </a:pPr>
                      <a:r>
                        <a:rPr lang="en-US" sz="1250" dirty="0">
                          <a:solidFill>
                            <a:srgbClr val="33333B"/>
                          </a:solidFill>
                          <a:latin typeface="Calibri" pitchFamily="34" charset="0"/>
                          <a:ea typeface="Calibri" pitchFamily="34" charset="-122"/>
                          <a:cs typeface="Calibri" pitchFamily="34" charset="-120"/>
                        </a:rPr>
                        <a:t>Internet required</a:t>
                      </a:r>
                      <a:endParaRPr lang="en-US" sz="125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50" dirty="0">
                          <a:solidFill>
                            <a:srgbClr val="33333B"/>
                          </a:solidFill>
                          <a:latin typeface="Calibri" pitchFamily="34" charset="0"/>
                          <a:ea typeface="Calibri" pitchFamily="34" charset="-122"/>
                          <a:cs typeface="Calibri" pitchFamily="34" charset="-120"/>
                        </a:rPr>
                        <a:t>No. Fully functional with no connectivity</a:t>
                      </a:r>
                      <a:endParaRPr lang="en-US" sz="1250" dirty="0">
                        <a:latin typeface="Calibri" charset="0"/>
                        <a:ea typeface="Calibri" charset="0"/>
                        <a:cs typeface="Calibri" charset="0"/>
                      </a:endParaRPr>
                    </a:p>
                  </a:txBody>
                  <a:tcPr marL="127000" marR="127000" marT="127000" marB="1270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txBox="1"/>
          <p:nvPr/>
        </p:nvSpPr>
        <p:spPr>
          <a:xfrm>
            <a:off x="594360" y="5212080"/>
            <a:ext cx="10881360" cy="640080"/>
          </a:xfrm>
          <a:prstGeom prst="rect">
            <a:avLst/>
          </a:prstGeom>
          <a:noFill/>
          <a:ln/>
        </p:spPr>
        <p:txBody>
          <a:bodyPr wrap="square" lIns="0" tIns="0" rIns="0" bIns="0" rtlCol="0" anchor="ctr"/>
          <a:lstStyle/>
          <a:p>
            <a:pPr marL="0" indent="0">
              <a:lnSpc>
                <a:spcPct val="120000"/>
              </a:lnSpc>
              <a:buNone/>
            </a:pPr>
            <a:r>
              <a:rPr lang="en-US" sz="1250" i="1" dirty="0">
                <a:solidFill>
                  <a:srgbClr val="6C6F85"/>
                </a:solidFill>
                <a:latin typeface="Calibri" pitchFamily="34" charset="0"/>
                <a:ea typeface="Calibri" pitchFamily="34" charset="-122"/>
                <a:cs typeface="Calibri" pitchFamily="34" charset="-120"/>
              </a:rPr>
              <a:t>The internal server is read-only, serves an explicit allow-list of eight paths, and rejects directory traversal. External links open in the user’s normal browser, not inside the app.</a:t>
            </a:r>
            <a:endParaRPr lang="en-US" sz="1250" dirty="0"/>
          </a:p>
        </p:txBody>
      </p:sp>
      <p:pic>
        <p:nvPicPr>
          <p:cNvPr id="5" name="Image 0" descr="C:\Users\nguye\AppData\Local\Temp\claude\E--WORK-OFFLINE-apps-Adflow\c4dbe0b3-8f3b-4a26-ba73-6ba5f8057916\scratchpad\brand\rmit-full.png"/>
          <p:cNvPicPr>
            <a:picLocks noChangeAspect="1"/>
          </p:cNvPicPr>
          <p:nvPr/>
        </p:nvPicPr>
        <p:blipFill>
          <a:blip r:embed="rId3"/>
          <a:stretch>
            <a:fillRect/>
          </a:stretch>
        </p:blipFill>
        <p:spPr>
          <a:xfrm>
            <a:off x="594360" y="6272784"/>
            <a:ext cx="841248" cy="292033"/>
          </a:xfrm>
          <a:prstGeom prst="rect">
            <a:avLst/>
          </a:prstGeom>
        </p:spPr>
      </p:pic>
      <p:sp>
        <p:nvSpPr>
          <p:cNvPr id="8" name="Text 4"/>
          <p:cNvSpPr txBox="1"/>
          <p:nvPr/>
        </p:nvSpPr>
        <p:spPr>
          <a:xfrm>
            <a:off x="1572768" y="6309360"/>
            <a:ext cx="6400800" cy="256032"/>
          </a:xfrm>
          <a:prstGeom prst="rect">
            <a:avLst/>
          </a:prstGeom>
          <a:noFill/>
          <a:ln/>
        </p:spPr>
        <p:txBody>
          <a:bodyPr wrap="square" lIns="0" tIns="0" rIns="0" bIns="0" rtlCol="0" anchor="ctr"/>
          <a:lstStyle/>
          <a:p>
            <a:pPr marL="0" indent="0">
              <a:buNone/>
            </a:pPr>
            <a:r>
              <a:rPr lang="en-US" sz="900" dirty="0">
                <a:solidFill>
                  <a:srgbClr val="9C9FB4"/>
                </a:solidFill>
                <a:latin typeface="Calibri" pitchFamily="34" charset="0"/>
                <a:ea typeface="Calibri" pitchFamily="34" charset="-122"/>
                <a:cs typeface="Calibri" pitchFamily="34" charset="-120"/>
              </a:rPr>
              <a:t>Adflow  ·  v0.61.1  ·  ITS review</a:t>
            </a:r>
            <a:endParaRPr lang="en-US" sz="900" dirty="0"/>
          </a:p>
        </p:txBody>
      </p:sp>
      <p:sp>
        <p:nvSpPr>
          <p:cNvPr id="9" name="Text 5"/>
          <p:cNvSpPr txBox="1"/>
          <p:nvPr/>
        </p:nvSpPr>
        <p:spPr>
          <a:xfrm>
            <a:off x="11064240" y="6309360"/>
            <a:ext cx="502920" cy="256032"/>
          </a:xfrm>
          <a:prstGeom prst="rect">
            <a:avLst/>
          </a:prstGeom>
          <a:noFill/>
          <a:ln/>
        </p:spPr>
        <p:txBody>
          <a:bodyPr wrap="square" lIns="0" tIns="0" rIns="0" bIns="0" rtlCol="0" anchor="ctr"/>
          <a:lstStyle/>
          <a:p>
            <a:pPr marL="0" indent="0" algn="r">
              <a:buNone/>
            </a:pPr>
            <a:r>
              <a:rPr lang="en-US" sz="900" dirty="0">
                <a:solidFill>
                  <a:srgbClr val="9C9FB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46304"/>
            <a:ext cx="10972800" cy="274320"/>
          </a:xfrm>
          <a:prstGeom prst="rect">
            <a:avLst/>
          </a:prstGeom>
          <a:noFill/>
          <a:ln/>
        </p:spPr>
        <p:txBody>
          <a:bodyPr wrap="square" lIns="0" tIns="0" rIns="0" bIns="0" rtlCol="0" anchor="ctr"/>
          <a:lstStyle/>
          <a:p>
            <a:pPr marL="0" indent="0" algn="l">
              <a:buNone/>
            </a:pPr>
            <a:r>
              <a:rPr lang="en-US" sz="1100" b="1" kern="0" spc="200" dirty="0">
                <a:solidFill>
                  <a:srgbClr val="E61E2A"/>
                </a:solidFill>
                <a:latin typeface="Calibri" pitchFamily="34" charset="0"/>
                <a:ea typeface="Calibri" pitchFamily="34" charset="-122"/>
                <a:cs typeface="Calibri" pitchFamily="34" charset="-120"/>
              </a:rPr>
              <a:t>COMPOSITION</a:t>
            </a:r>
            <a:endParaRPr lang="en-US" sz="1100" dirty="0"/>
          </a:p>
        </p:txBody>
      </p:sp>
      <p:sp>
        <p:nvSpPr>
          <p:cNvPr id="3" name="Text 1"/>
          <p:cNvSpPr txBox="1"/>
          <p:nvPr/>
        </p:nvSpPr>
        <p:spPr>
          <a:xfrm>
            <a:off x="594360" y="411480"/>
            <a:ext cx="10972800" cy="685800"/>
          </a:xfrm>
          <a:prstGeom prst="rect">
            <a:avLst/>
          </a:prstGeom>
          <a:noFill/>
          <a:ln/>
        </p:spPr>
        <p:txBody>
          <a:bodyPr wrap="square" lIns="0" tIns="0" rIns="0" bIns="0" rtlCol="0" anchor="ctr"/>
          <a:lstStyle/>
          <a:p>
            <a:pPr marL="0" indent="0" algn="l">
              <a:buNone/>
            </a:pPr>
            <a:r>
              <a:rPr lang="en-US" sz="3400" b="1" dirty="0">
                <a:solidFill>
                  <a:srgbClr val="000054"/>
                </a:solidFill>
                <a:latin typeface="Cambria" pitchFamily="34" charset="0"/>
                <a:ea typeface="Cambria" pitchFamily="34" charset="-122"/>
                <a:cs typeface="Cambria" pitchFamily="34" charset="-120"/>
              </a:rPr>
              <a:t>What is actually in the 288 MB</a:t>
            </a:r>
            <a:endParaRPr lang="en-US" sz="3400" dirty="0"/>
          </a:p>
        </p:txBody>
      </p:sp>
      <p:graphicFrame>
        <p:nvGraphicFramePr>
          <p:cNvPr id="4" name="Chart 0"/>
          <p:cNvGraphicFramePr/>
          <p:nvPr/>
        </p:nvGraphicFramePr>
        <p:xfrm>
          <a:off x="594360" y="1828800"/>
          <a:ext cx="493776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943600" y="2304288"/>
            <a:ext cx="201168" cy="201168"/>
          </a:xfrm>
          <a:prstGeom prst="ellipse">
            <a:avLst/>
          </a:prstGeom>
          <a:solidFill>
            <a:srgbClr val="E61E2A"/>
          </a:solidFill>
          <a:ln w="12700">
            <a:solidFill>
              <a:srgbClr val="333333"/>
            </a:solidFill>
            <a:prstDash val="solid"/>
          </a:ln>
        </p:spPr>
      </p:sp>
      <p:sp>
        <p:nvSpPr>
          <p:cNvPr id="6" name="Text 3"/>
          <p:cNvSpPr txBox="1"/>
          <p:nvPr/>
        </p:nvSpPr>
        <p:spPr>
          <a:xfrm>
            <a:off x="6309360" y="2240280"/>
            <a:ext cx="5120640" cy="292608"/>
          </a:xfrm>
          <a:prstGeom prst="rect">
            <a:avLst/>
          </a:prstGeom>
          <a:noFill/>
          <a:ln/>
        </p:spPr>
        <p:txBody>
          <a:bodyPr wrap="square" lIns="0" tIns="0" rIns="0" bIns="0" rtlCol="0" anchor="t"/>
          <a:lstStyle/>
          <a:p>
            <a:pPr marL="0" indent="0">
              <a:buNone/>
            </a:pPr>
            <a:r>
              <a:rPr lang="en-US" sz="1500" b="1" dirty="0">
                <a:solidFill>
                  <a:srgbClr val="000054"/>
                </a:solidFill>
                <a:latin typeface="Calibri" pitchFamily="34" charset="0"/>
                <a:ea typeface="Calibri" pitchFamily="34" charset="-122"/>
                <a:cs typeface="Calibri" pitchFamily="34" charset="-120"/>
              </a:rPr>
              <a:t>Adflow itself — 20 MB</a:t>
            </a:r>
            <a:endParaRPr lang="en-US" sz="1500" dirty="0"/>
          </a:p>
        </p:txBody>
      </p:sp>
      <p:sp>
        <p:nvSpPr>
          <p:cNvPr id="7" name="Text 4"/>
          <p:cNvSpPr txBox="1"/>
          <p:nvPr/>
        </p:nvSpPr>
        <p:spPr>
          <a:xfrm>
            <a:off x="6309360" y="2569464"/>
            <a:ext cx="5120640" cy="868680"/>
          </a:xfrm>
          <a:prstGeom prst="rect">
            <a:avLst/>
          </a:prstGeom>
          <a:noFill/>
          <a:ln/>
        </p:spPr>
        <p:txBody>
          <a:bodyPr wrap="square" lIns="0" tIns="0" rIns="0" bIns="0" rtlCol="0" anchor="t"/>
          <a:lstStyle/>
          <a:p>
            <a:pPr marL="0" indent="0">
              <a:lnSpc>
                <a:spcPct val="120000"/>
              </a:lnSpc>
              <a:buNone/>
            </a:pPr>
            <a:r>
              <a:rPr lang="en-US" sz="1250" dirty="0">
                <a:solidFill>
                  <a:srgbClr val="6C6F85"/>
                </a:solidFill>
                <a:latin typeface="Calibri" pitchFamily="34" charset="0"/>
                <a:ea typeface="Calibri" pitchFamily="34" charset="-122"/>
                <a:cs typeface="Calibri" pitchFamily="34" charset="-120"/>
              </a:rPr>
              <a:t>Unminified source, identical to the repository. Fully reviewable.</a:t>
            </a:r>
            <a:endParaRPr lang="en-US" sz="1250" dirty="0"/>
          </a:p>
        </p:txBody>
      </p:sp>
      <p:sp>
        <p:nvSpPr>
          <p:cNvPr id="8" name="Shape 5"/>
          <p:cNvSpPr/>
          <p:nvPr/>
        </p:nvSpPr>
        <p:spPr>
          <a:xfrm>
            <a:off x="5943600" y="3675888"/>
            <a:ext cx="201168" cy="201168"/>
          </a:xfrm>
          <a:prstGeom prst="ellipse">
            <a:avLst/>
          </a:prstGeom>
          <a:solidFill>
            <a:srgbClr val="3C3C44"/>
          </a:solidFill>
          <a:ln w="12700">
            <a:solidFill>
              <a:srgbClr val="333333"/>
            </a:solidFill>
            <a:prstDash val="solid"/>
          </a:ln>
        </p:spPr>
      </p:sp>
      <p:sp>
        <p:nvSpPr>
          <p:cNvPr id="9" name="Text 6"/>
          <p:cNvSpPr txBox="1"/>
          <p:nvPr/>
        </p:nvSpPr>
        <p:spPr>
          <a:xfrm>
            <a:off x="6309360" y="3611880"/>
            <a:ext cx="5120640" cy="292608"/>
          </a:xfrm>
          <a:prstGeom prst="rect">
            <a:avLst/>
          </a:prstGeom>
          <a:noFill/>
          <a:ln/>
        </p:spPr>
        <p:txBody>
          <a:bodyPr wrap="square" lIns="0" tIns="0" rIns="0" bIns="0" rtlCol="0" anchor="t"/>
          <a:lstStyle/>
          <a:p>
            <a:pPr marL="0" indent="0">
              <a:buNone/>
            </a:pPr>
            <a:r>
              <a:rPr lang="en-US" sz="1500" b="1" dirty="0">
                <a:solidFill>
                  <a:srgbClr val="000054"/>
                </a:solidFill>
                <a:latin typeface="Calibri" pitchFamily="34" charset="0"/>
                <a:ea typeface="Calibri" pitchFamily="34" charset="-122"/>
                <a:cs typeface="Calibri" pitchFamily="34" charset="-120"/>
              </a:rPr>
              <a:t>Runtime — 269 MB</a:t>
            </a:r>
            <a:endParaRPr lang="en-US" sz="1500" dirty="0"/>
          </a:p>
        </p:txBody>
      </p:sp>
      <p:sp>
        <p:nvSpPr>
          <p:cNvPr id="10" name="Text 7"/>
          <p:cNvSpPr txBox="1"/>
          <p:nvPr/>
        </p:nvSpPr>
        <p:spPr>
          <a:xfrm>
            <a:off x="6309360" y="3941064"/>
            <a:ext cx="5120640" cy="868680"/>
          </a:xfrm>
          <a:prstGeom prst="rect">
            <a:avLst/>
          </a:prstGeom>
          <a:noFill/>
          <a:ln/>
        </p:spPr>
        <p:txBody>
          <a:bodyPr wrap="square" lIns="0" tIns="0" rIns="0" bIns="0" rtlCol="0" anchor="t"/>
          <a:lstStyle/>
          <a:p>
            <a:pPr marL="0" indent="0">
              <a:lnSpc>
                <a:spcPct val="120000"/>
              </a:lnSpc>
              <a:buNone/>
            </a:pPr>
            <a:r>
              <a:rPr lang="en-US" sz="1250" dirty="0">
                <a:solidFill>
                  <a:srgbClr val="6C6F85"/>
                </a:solidFill>
                <a:latin typeface="Calibri" pitchFamily="34" charset="0"/>
                <a:ea typeface="Calibri" pitchFamily="34" charset="-122"/>
                <a:cs typeface="Calibri" pitchFamily="34" charset="-120"/>
              </a:rPr>
              <a:t>The same Chromium engine already trusted in Chrome and Edge. Not reviewable line by line, and nobody reviews it that way.</a:t>
            </a:r>
            <a:endParaRPr lang="en-US" sz="1250" dirty="0"/>
          </a:p>
        </p:txBody>
      </p:sp>
      <p:sp>
        <p:nvSpPr>
          <p:cNvPr id="11" name="Shape 8"/>
          <p:cNvSpPr/>
          <p:nvPr/>
        </p:nvSpPr>
        <p:spPr>
          <a:xfrm>
            <a:off x="5943600" y="5074920"/>
            <a:ext cx="5532120" cy="777240"/>
          </a:xfrm>
          <a:prstGeom prst="roundRect">
            <a:avLst>
              <a:gd name="adj" fmla="val 7059"/>
            </a:avLst>
          </a:prstGeom>
          <a:solidFill>
            <a:srgbClr val="F4F5F9"/>
          </a:solidFill>
          <a:ln w="9525">
            <a:solidFill>
              <a:srgbClr val="D8DAE6"/>
            </a:solidFill>
            <a:prstDash val="solid"/>
          </a:ln>
        </p:spPr>
      </p:sp>
      <p:sp>
        <p:nvSpPr>
          <p:cNvPr id="12" name="Text 9"/>
          <p:cNvSpPr txBox="1"/>
          <p:nvPr/>
        </p:nvSpPr>
        <p:spPr>
          <a:xfrm>
            <a:off x="6263640" y="5257800"/>
            <a:ext cx="4937760" cy="457200"/>
          </a:xfrm>
          <a:prstGeom prst="rect">
            <a:avLst/>
          </a:prstGeom>
          <a:noFill/>
          <a:ln/>
        </p:spPr>
        <p:txBody>
          <a:bodyPr wrap="square" lIns="0" tIns="0" rIns="0" bIns="0" rtlCol="0" anchor="ctr"/>
          <a:lstStyle/>
          <a:p>
            <a:pPr marL="0" indent="0">
              <a:lnSpc>
                <a:spcPct val="115000"/>
              </a:lnSpc>
              <a:buNone/>
            </a:pPr>
            <a:r>
              <a:rPr lang="en-US" sz="1300" b="1" dirty="0">
                <a:solidFill>
                  <a:srgbClr val="000054"/>
                </a:solidFill>
                <a:latin typeface="Calibri" pitchFamily="34" charset="0"/>
                <a:ea typeface="Calibri" pitchFamily="34" charset="-122"/>
                <a:cs typeface="Calibri" pitchFamily="34" charset="-120"/>
              </a:rPr>
              <a:t>The application layer is 7% of the bundle and 100% of what we wrote.</a:t>
            </a:r>
            <a:endParaRPr lang="en-US" sz="1300" dirty="0"/>
          </a:p>
        </p:txBody>
      </p:sp>
      <p:pic>
        <p:nvPicPr>
          <p:cNvPr id="13" name="Image 0" descr="C:\Users\nguye\AppData\Local\Temp\claude\E--WORK-OFFLINE-apps-Adflow\c4dbe0b3-8f3b-4a26-ba73-6ba5f8057916\scratchpad\brand\rmit-full.png"/>
          <p:cNvPicPr>
            <a:picLocks noChangeAspect="1"/>
          </p:cNvPicPr>
          <p:nvPr/>
        </p:nvPicPr>
        <p:blipFill>
          <a:blip r:embed="rId4"/>
          <a:stretch>
            <a:fillRect/>
          </a:stretch>
        </p:blipFill>
        <p:spPr>
          <a:xfrm>
            <a:off x="594360" y="6272784"/>
            <a:ext cx="841248" cy="292033"/>
          </a:xfrm>
          <a:prstGeom prst="rect">
            <a:avLst/>
          </a:prstGeom>
        </p:spPr>
      </p:pic>
      <p:sp>
        <p:nvSpPr>
          <p:cNvPr id="14" name="Text 10"/>
          <p:cNvSpPr txBox="1"/>
          <p:nvPr/>
        </p:nvSpPr>
        <p:spPr>
          <a:xfrm>
            <a:off x="1572768" y="6309360"/>
            <a:ext cx="6400800" cy="256032"/>
          </a:xfrm>
          <a:prstGeom prst="rect">
            <a:avLst/>
          </a:prstGeom>
          <a:noFill/>
          <a:ln/>
        </p:spPr>
        <p:txBody>
          <a:bodyPr wrap="square" lIns="0" tIns="0" rIns="0" bIns="0" rtlCol="0" anchor="ctr"/>
          <a:lstStyle/>
          <a:p>
            <a:pPr marL="0" indent="0">
              <a:buNone/>
            </a:pPr>
            <a:r>
              <a:rPr lang="en-US" sz="900" dirty="0">
                <a:solidFill>
                  <a:srgbClr val="9C9FB4"/>
                </a:solidFill>
                <a:latin typeface="Calibri" pitchFamily="34" charset="0"/>
                <a:ea typeface="Calibri" pitchFamily="34" charset="-122"/>
                <a:cs typeface="Calibri" pitchFamily="34" charset="-120"/>
              </a:rPr>
              <a:t>Adflow  ·  v0.61.1  ·  ITS review</a:t>
            </a:r>
            <a:endParaRPr lang="en-US" sz="900" dirty="0"/>
          </a:p>
        </p:txBody>
      </p:sp>
      <p:sp>
        <p:nvSpPr>
          <p:cNvPr id="15" name="Text 11"/>
          <p:cNvSpPr txBox="1"/>
          <p:nvPr/>
        </p:nvSpPr>
        <p:spPr>
          <a:xfrm>
            <a:off x="11064240" y="6309360"/>
            <a:ext cx="502920" cy="256032"/>
          </a:xfrm>
          <a:prstGeom prst="rect">
            <a:avLst/>
          </a:prstGeom>
          <a:noFill/>
          <a:ln/>
        </p:spPr>
        <p:txBody>
          <a:bodyPr wrap="square" lIns="0" tIns="0" rIns="0" bIns="0" rtlCol="0" anchor="ctr"/>
          <a:lstStyle/>
          <a:p>
            <a:pPr marL="0" indent="0" algn="r">
              <a:buNone/>
            </a:pPr>
            <a:r>
              <a:rPr lang="en-US" sz="900" dirty="0">
                <a:solidFill>
                  <a:srgbClr val="9C9FB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46304"/>
            <a:ext cx="10972800" cy="274320"/>
          </a:xfrm>
          <a:prstGeom prst="rect">
            <a:avLst/>
          </a:prstGeom>
          <a:noFill/>
          <a:ln/>
        </p:spPr>
        <p:txBody>
          <a:bodyPr wrap="square" lIns="0" tIns="0" rIns="0" bIns="0" rtlCol="0" anchor="ctr"/>
          <a:lstStyle/>
          <a:p>
            <a:pPr marL="0" indent="0" algn="l">
              <a:buNone/>
            </a:pPr>
            <a:r>
              <a:rPr lang="en-US" sz="1100" b="1" kern="0" spc="200" dirty="0">
                <a:solidFill>
                  <a:srgbClr val="E61E2A"/>
                </a:solidFill>
                <a:latin typeface="Calibri" pitchFamily="34" charset="0"/>
                <a:ea typeface="Calibri" pitchFamily="34" charset="-122"/>
                <a:cs typeface="Calibri" pitchFamily="34" charset="-120"/>
              </a:rPr>
              <a:t>SUPPLY CHAIN</a:t>
            </a:r>
            <a:endParaRPr lang="en-US" sz="1100" dirty="0"/>
          </a:p>
        </p:txBody>
      </p:sp>
      <p:sp>
        <p:nvSpPr>
          <p:cNvPr id="3" name="Text 1"/>
          <p:cNvSpPr txBox="1"/>
          <p:nvPr/>
        </p:nvSpPr>
        <p:spPr>
          <a:xfrm>
            <a:off x="594360" y="411480"/>
            <a:ext cx="10972800" cy="685800"/>
          </a:xfrm>
          <a:prstGeom prst="rect">
            <a:avLst/>
          </a:prstGeom>
          <a:noFill/>
          <a:ln/>
        </p:spPr>
        <p:txBody>
          <a:bodyPr wrap="square" lIns="0" tIns="0" rIns="0" bIns="0" rtlCol="0" anchor="ctr"/>
          <a:lstStyle/>
          <a:p>
            <a:pPr marL="0" indent="0" algn="l">
              <a:buNone/>
            </a:pPr>
            <a:r>
              <a:rPr lang="en-US" sz="3400" b="1" dirty="0">
                <a:solidFill>
                  <a:srgbClr val="000054"/>
                </a:solidFill>
                <a:latin typeface="Cambria" pitchFamily="34" charset="0"/>
                <a:ea typeface="Cambria" pitchFamily="34" charset="-122"/>
                <a:cs typeface="Cambria" pitchFamily="34" charset="-120"/>
              </a:rPr>
              <a:t>Five libraries, each pinned to a checksum</a:t>
            </a:r>
            <a:endParaRPr lang="en-US" sz="3400" dirty="0"/>
          </a:p>
        </p:txBody>
      </p:sp>
      <p:sp>
        <p:nvSpPr>
          <p:cNvPr id="4" name="Text 2"/>
          <p:cNvSpPr txBox="1"/>
          <p:nvPr/>
        </p:nvSpPr>
        <p:spPr>
          <a:xfrm>
            <a:off x="594360" y="1188720"/>
            <a:ext cx="10881360" cy="502920"/>
          </a:xfrm>
          <a:prstGeom prst="rect">
            <a:avLst/>
          </a:prstGeom>
          <a:noFill/>
          <a:ln/>
        </p:spPr>
        <p:txBody>
          <a:bodyPr wrap="square" lIns="0" tIns="0" rIns="0" bIns="0" rtlCol="0" anchor="t"/>
          <a:lstStyle/>
          <a:p>
            <a:pPr marL="0" indent="0" algn="l">
              <a:lnSpc>
                <a:spcPct val="120000"/>
              </a:lnSpc>
              <a:buNone/>
            </a:pPr>
            <a:r>
              <a:rPr lang="en-US" sz="1500" dirty="0">
                <a:solidFill>
                  <a:srgbClr val="6C6F85"/>
                </a:solidFill>
                <a:latin typeface="Calibri" pitchFamily="34" charset="0"/>
                <a:ea typeface="Calibri" pitchFamily="34" charset="-122"/>
                <a:cs typeface="Calibri" pitchFamily="34" charset="-120"/>
              </a:rPr>
              <a:t>All are committed to the repository rather than fetched from a CDN, so the application cannot change underneath us and works offline.</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4360" y="2103120"/>
          <a:ext cx="1088136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5029200">
                  <a:extLst>
                    <a:ext uri="{9D8B030D-6E8A-4147-A177-3AD203B41FA5}">
                      <a16:colId xmlns:a16="http://schemas.microsoft.com/office/drawing/2014/main" val="20003"/>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Library</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solidFill>
                      <a:srgbClr val="00005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Version</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solidFill>
                      <a:srgbClr val="00005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Licence</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solidFill>
                      <a:srgbClr val="00005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Used for</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solidFill>
                      <a:srgbClr val="000054"/>
                    </a:solidFill>
                  </a:tcPr>
                </a:tc>
                <a:extLst>
                  <a:ext uri="{0D108BD9-81ED-4DB2-BD59-A6C34878D82A}">
                    <a16:rowId xmlns:a16="http://schemas.microsoft.com/office/drawing/2014/main" val="10000"/>
                  </a:ext>
                </a:extLst>
              </a:tr>
              <a:tr h="365760">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JSZip</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3.10.1</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MIT</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Project files and export packages</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iro.js</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5.5.2</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MPL-2.0</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Colour picker</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mediabunny</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1.52.2</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MPL-2.0</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Video export</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gifenc</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1.0.3</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MIT</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GIF export</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harfbuzzjs</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by checksum</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MIT</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Font subsetting at export</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594360" y="4892040"/>
            <a:ext cx="5321808" cy="1005840"/>
          </a:xfrm>
          <a:prstGeom prst="roundRect">
            <a:avLst>
              <a:gd name="adj" fmla="val 5455"/>
            </a:avLst>
          </a:prstGeom>
          <a:solidFill>
            <a:srgbClr val="F4F5F9"/>
          </a:solidFill>
          <a:ln w="9525">
            <a:solidFill>
              <a:srgbClr val="D8DAE6"/>
            </a:solidFill>
            <a:prstDash val="solid"/>
          </a:ln>
        </p:spPr>
      </p:sp>
      <p:sp>
        <p:nvSpPr>
          <p:cNvPr id="7" name="Text 4"/>
          <p:cNvSpPr txBox="1"/>
          <p:nvPr/>
        </p:nvSpPr>
        <p:spPr>
          <a:xfrm>
            <a:off x="960120" y="5029200"/>
            <a:ext cx="822960" cy="594360"/>
          </a:xfrm>
          <a:prstGeom prst="rect">
            <a:avLst/>
          </a:prstGeom>
          <a:noFill/>
          <a:ln/>
        </p:spPr>
        <p:txBody>
          <a:bodyPr wrap="square" lIns="0" tIns="0" rIns="0" bIns="0" rtlCol="0" anchor="t"/>
          <a:lstStyle/>
          <a:p>
            <a:pPr marL="0" indent="0">
              <a:buNone/>
            </a:pPr>
            <a:r>
              <a:rPr lang="en-US" sz="3200" b="1" dirty="0">
                <a:solidFill>
                  <a:srgbClr val="1F7A4D"/>
                </a:solidFill>
                <a:latin typeface="Cambria" pitchFamily="34" charset="0"/>
                <a:ea typeface="Cambria" pitchFamily="34" charset="-122"/>
                <a:cs typeface="Cambria" pitchFamily="34" charset="-120"/>
              </a:rPr>
              <a:t>0</a:t>
            </a:r>
            <a:endParaRPr lang="en-US" sz="3200" dirty="0"/>
          </a:p>
        </p:txBody>
      </p:sp>
      <p:sp>
        <p:nvSpPr>
          <p:cNvPr id="8" name="Text 5"/>
          <p:cNvSpPr txBox="1"/>
          <p:nvPr/>
        </p:nvSpPr>
        <p:spPr>
          <a:xfrm>
            <a:off x="1783080" y="5138928"/>
            <a:ext cx="3931920" cy="594360"/>
          </a:xfrm>
          <a:prstGeom prst="rect">
            <a:avLst/>
          </a:prstGeom>
          <a:noFill/>
          <a:ln/>
        </p:spPr>
        <p:txBody>
          <a:bodyPr wrap="square" lIns="0" tIns="0" rIns="0" bIns="0" rtlCol="0" anchor="t"/>
          <a:lstStyle/>
          <a:p>
            <a:pPr marL="0" indent="0">
              <a:lnSpc>
                <a:spcPct val="115000"/>
              </a:lnSpc>
              <a:buNone/>
            </a:pPr>
            <a:r>
              <a:rPr lang="en-US" sz="1300" dirty="0">
                <a:solidFill>
                  <a:srgbClr val="33333B"/>
                </a:solidFill>
                <a:latin typeface="Calibri" pitchFamily="34" charset="0"/>
                <a:ea typeface="Calibri" pitchFamily="34" charset="-122"/>
                <a:cs typeface="Calibri" pitchFamily="34" charset="-120"/>
              </a:rPr>
              <a:t>vulnerabilities in shipped dependencies</a:t>
            </a:r>
            <a:endParaRPr lang="en-US" sz="1300" dirty="0"/>
          </a:p>
        </p:txBody>
      </p:sp>
      <p:sp>
        <p:nvSpPr>
          <p:cNvPr id="5" name="Shape 6"/>
          <p:cNvSpPr/>
          <p:nvPr/>
        </p:nvSpPr>
        <p:spPr>
          <a:xfrm>
            <a:off x="6153912" y="4892040"/>
            <a:ext cx="5321808" cy="1005840"/>
          </a:xfrm>
          <a:prstGeom prst="roundRect">
            <a:avLst>
              <a:gd name="adj" fmla="val 5455"/>
            </a:avLst>
          </a:prstGeom>
          <a:solidFill>
            <a:srgbClr val="F4F5F9"/>
          </a:solidFill>
          <a:ln w="9525">
            <a:solidFill>
              <a:srgbClr val="D8DAE6"/>
            </a:solidFill>
            <a:prstDash val="solid"/>
          </a:ln>
        </p:spPr>
      </p:sp>
      <p:sp>
        <p:nvSpPr>
          <p:cNvPr id="10" name="Text 7"/>
          <p:cNvSpPr txBox="1"/>
          <p:nvPr/>
        </p:nvSpPr>
        <p:spPr>
          <a:xfrm>
            <a:off x="6519672" y="5029200"/>
            <a:ext cx="914400" cy="594360"/>
          </a:xfrm>
          <a:prstGeom prst="rect">
            <a:avLst/>
          </a:prstGeom>
          <a:noFill/>
          <a:ln/>
        </p:spPr>
        <p:txBody>
          <a:bodyPr wrap="square" lIns="0" tIns="0" rIns="0" bIns="0" rtlCol="0" anchor="t"/>
          <a:lstStyle/>
          <a:p>
            <a:pPr marL="0" indent="0">
              <a:buNone/>
            </a:pPr>
            <a:r>
              <a:rPr lang="en-US" sz="3200" b="1" dirty="0">
                <a:solidFill>
                  <a:srgbClr val="000054"/>
                </a:solidFill>
                <a:latin typeface="Cambria" pitchFamily="34" charset="0"/>
                <a:ea typeface="Cambria" pitchFamily="34" charset="-122"/>
                <a:cs typeface="Cambria" pitchFamily="34" charset="-120"/>
              </a:rPr>
              <a:t>14</a:t>
            </a:r>
            <a:endParaRPr lang="en-US" sz="3200" dirty="0"/>
          </a:p>
        </p:txBody>
      </p:sp>
      <p:sp>
        <p:nvSpPr>
          <p:cNvPr id="11" name="Text 8"/>
          <p:cNvSpPr txBox="1"/>
          <p:nvPr/>
        </p:nvSpPr>
        <p:spPr>
          <a:xfrm>
            <a:off x="7452360" y="5138928"/>
            <a:ext cx="3840480" cy="640080"/>
          </a:xfrm>
          <a:prstGeom prst="rect">
            <a:avLst/>
          </a:prstGeom>
          <a:noFill/>
          <a:ln/>
        </p:spPr>
        <p:txBody>
          <a:bodyPr wrap="square" lIns="0" tIns="0" rIns="0" bIns="0" rtlCol="0" anchor="t"/>
          <a:lstStyle/>
          <a:p>
            <a:pPr marL="0" indent="0">
              <a:lnSpc>
                <a:spcPct val="115000"/>
              </a:lnSpc>
              <a:buNone/>
            </a:pPr>
            <a:r>
              <a:rPr lang="en-US" sz="1250" dirty="0">
                <a:solidFill>
                  <a:srgbClr val="6C6F85"/>
                </a:solidFill>
                <a:latin typeface="Calibri" pitchFamily="34" charset="0"/>
                <a:ea typeface="Calibri" pitchFamily="34" charset="-122"/>
                <a:cs typeface="Calibri" pitchFamily="34" charset="-120"/>
              </a:rPr>
              <a:t>in build tooling only — never reaches a user</a:t>
            </a:r>
            <a:endParaRPr lang="en-US" sz="1250" dirty="0"/>
          </a:p>
        </p:txBody>
      </p:sp>
      <p:pic>
        <p:nvPicPr>
          <p:cNvPr id="12" name="Image 0" descr="C:\Users\nguye\AppData\Local\Temp\claude\E--WORK-OFFLINE-apps-Adflow\c4dbe0b3-8f3b-4a26-ba73-6ba5f8057916\scratchpad\brand\rmit-full.png"/>
          <p:cNvPicPr>
            <a:picLocks noChangeAspect="1"/>
          </p:cNvPicPr>
          <p:nvPr/>
        </p:nvPicPr>
        <p:blipFill>
          <a:blip r:embed="rId3"/>
          <a:stretch>
            <a:fillRect/>
          </a:stretch>
        </p:blipFill>
        <p:spPr>
          <a:xfrm>
            <a:off x="594360" y="6272784"/>
            <a:ext cx="841248" cy="292033"/>
          </a:xfrm>
          <a:prstGeom prst="rect">
            <a:avLst/>
          </a:prstGeom>
        </p:spPr>
      </p:pic>
      <p:sp>
        <p:nvSpPr>
          <p:cNvPr id="13" name="Text 9"/>
          <p:cNvSpPr txBox="1"/>
          <p:nvPr/>
        </p:nvSpPr>
        <p:spPr>
          <a:xfrm>
            <a:off x="1572768" y="6309360"/>
            <a:ext cx="6400800" cy="256032"/>
          </a:xfrm>
          <a:prstGeom prst="rect">
            <a:avLst/>
          </a:prstGeom>
          <a:noFill/>
          <a:ln/>
        </p:spPr>
        <p:txBody>
          <a:bodyPr wrap="square" lIns="0" tIns="0" rIns="0" bIns="0" rtlCol="0" anchor="ctr"/>
          <a:lstStyle/>
          <a:p>
            <a:pPr marL="0" indent="0">
              <a:buNone/>
            </a:pPr>
            <a:r>
              <a:rPr lang="en-US" sz="900" dirty="0">
                <a:solidFill>
                  <a:srgbClr val="9C9FB4"/>
                </a:solidFill>
                <a:latin typeface="Calibri" pitchFamily="34" charset="0"/>
                <a:ea typeface="Calibri" pitchFamily="34" charset="-122"/>
                <a:cs typeface="Calibri" pitchFamily="34" charset="-120"/>
              </a:rPr>
              <a:t>Adflow  ·  v0.61.1  ·  ITS review</a:t>
            </a:r>
            <a:endParaRPr lang="en-US" sz="900" dirty="0"/>
          </a:p>
        </p:txBody>
      </p:sp>
      <p:sp>
        <p:nvSpPr>
          <p:cNvPr id="14" name="Text 10"/>
          <p:cNvSpPr txBox="1"/>
          <p:nvPr/>
        </p:nvSpPr>
        <p:spPr>
          <a:xfrm>
            <a:off x="11064240" y="6309360"/>
            <a:ext cx="502920" cy="256032"/>
          </a:xfrm>
          <a:prstGeom prst="rect">
            <a:avLst/>
          </a:prstGeom>
          <a:noFill/>
          <a:ln/>
        </p:spPr>
        <p:txBody>
          <a:bodyPr wrap="square" lIns="0" tIns="0" rIns="0" bIns="0" rtlCol="0" anchor="ctr"/>
          <a:lstStyle/>
          <a:p>
            <a:pPr marL="0" indent="0" algn="r">
              <a:buNone/>
            </a:pPr>
            <a:r>
              <a:rPr lang="en-US" sz="900" dirty="0">
                <a:solidFill>
                  <a:srgbClr val="9C9FB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00054"/>
        </a:solidFill>
        <a:effectLst/>
      </p:bgPr>
    </p:bg>
    <p:spTree>
      <p:nvGrpSpPr>
        <p:cNvPr id="1" name=""/>
        <p:cNvGrpSpPr/>
        <p:nvPr/>
      </p:nvGrpSpPr>
      <p:grpSpPr>
        <a:xfrm>
          <a:off x="0" y="0"/>
          <a:ext cx="0" cy="0"/>
          <a:chOff x="0" y="0"/>
          <a:chExt cx="0" cy="0"/>
        </a:xfrm>
      </p:grpSpPr>
      <p:sp>
        <p:nvSpPr>
          <p:cNvPr id="2" name="Text 0"/>
          <p:cNvSpPr txBox="1"/>
          <p:nvPr/>
        </p:nvSpPr>
        <p:spPr>
          <a:xfrm>
            <a:off x="594360" y="146304"/>
            <a:ext cx="10972800" cy="274320"/>
          </a:xfrm>
          <a:prstGeom prst="rect">
            <a:avLst/>
          </a:prstGeom>
          <a:noFill/>
          <a:ln/>
        </p:spPr>
        <p:txBody>
          <a:bodyPr wrap="square" lIns="0" tIns="0" rIns="0" bIns="0" rtlCol="0" anchor="ctr"/>
          <a:lstStyle/>
          <a:p>
            <a:pPr marL="0" indent="0" algn="l">
              <a:buNone/>
            </a:pPr>
            <a:r>
              <a:rPr lang="en-US" sz="1100" b="1" kern="0" spc="200" dirty="0">
                <a:solidFill>
                  <a:srgbClr val="E61E2A"/>
                </a:solidFill>
                <a:latin typeface="Calibri" pitchFamily="34" charset="0"/>
                <a:ea typeface="Calibri" pitchFamily="34" charset="-122"/>
                <a:cs typeface="Calibri" pitchFamily="34" charset="-120"/>
              </a:rPr>
              <a:t>THE ONE ONGOING OBLIGATION</a:t>
            </a:r>
            <a:endParaRPr lang="en-US" sz="1100" dirty="0"/>
          </a:p>
        </p:txBody>
      </p:sp>
      <p:sp>
        <p:nvSpPr>
          <p:cNvPr id="3" name="Text 1"/>
          <p:cNvSpPr txBox="1"/>
          <p:nvPr/>
        </p:nvSpPr>
        <p:spPr>
          <a:xfrm>
            <a:off x="594360" y="411480"/>
            <a:ext cx="10972800" cy="68580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A bundled browser engine must be patched by us</a:t>
            </a:r>
            <a:endParaRPr lang="en-US" sz="3400" dirty="0"/>
          </a:p>
        </p:txBody>
      </p:sp>
      <p:sp>
        <p:nvSpPr>
          <p:cNvPr id="4" name="Text 2"/>
          <p:cNvSpPr txBox="1"/>
          <p:nvPr/>
        </p:nvSpPr>
        <p:spPr>
          <a:xfrm>
            <a:off x="594360" y="1188720"/>
            <a:ext cx="10881360" cy="502920"/>
          </a:xfrm>
          <a:prstGeom prst="rect">
            <a:avLst/>
          </a:prstGeom>
          <a:noFill/>
          <a:ln/>
        </p:spPr>
        <p:txBody>
          <a:bodyPr wrap="square" lIns="0" tIns="0" rIns="0" bIns="0" rtlCol="0" anchor="t"/>
          <a:lstStyle/>
          <a:p>
            <a:pPr marL="0" indent="0" algn="l">
              <a:lnSpc>
                <a:spcPct val="120000"/>
              </a:lnSpc>
              <a:buNone/>
            </a:pPr>
            <a:r>
              <a:rPr lang="en-US" sz="1500" dirty="0">
                <a:solidFill>
                  <a:srgbClr val="AFB2D4"/>
                </a:solidFill>
                <a:latin typeface="Calibri" pitchFamily="34" charset="0"/>
                <a:ea typeface="Calibri" pitchFamily="34" charset="-122"/>
                <a:cs typeface="Calibri" pitchFamily="34" charset="-120"/>
              </a:rPr>
              <a:t>We state this rather than leave it to be found. It is the substantive question in this review.</a:t>
            </a:r>
            <a:endParaRPr lang="en-US" sz="1500" dirty="0"/>
          </a:p>
        </p:txBody>
      </p:sp>
      <p:sp>
        <p:nvSpPr>
          <p:cNvPr id="5" name="Shape 3"/>
          <p:cNvSpPr/>
          <p:nvPr/>
        </p:nvSpPr>
        <p:spPr>
          <a:xfrm>
            <a:off x="594360" y="2148840"/>
            <a:ext cx="5321808" cy="2240280"/>
          </a:xfrm>
          <a:prstGeom prst="roundRect">
            <a:avLst>
              <a:gd name="adj" fmla="val 2449"/>
            </a:avLst>
          </a:prstGeom>
          <a:solidFill>
            <a:srgbClr val="141468"/>
          </a:solidFill>
          <a:ln w="9525">
            <a:solidFill>
              <a:srgbClr val="D8DAE6"/>
            </a:solidFill>
            <a:prstDash val="solid"/>
          </a:ln>
        </p:spPr>
      </p:sp>
      <p:sp>
        <p:nvSpPr>
          <p:cNvPr id="6" name="Text 4"/>
          <p:cNvSpPr txBox="1"/>
          <p:nvPr/>
        </p:nvSpPr>
        <p:spPr>
          <a:xfrm>
            <a:off x="960120" y="2377440"/>
            <a:ext cx="4572000" cy="320040"/>
          </a:xfrm>
          <a:prstGeom prst="rect">
            <a:avLst/>
          </a:prstGeom>
          <a:noFill/>
          <a:ln/>
        </p:spPr>
        <p:txBody>
          <a:bodyPr wrap="square" lIns="0" tIns="0" rIns="0" bIns="0" rtlCol="0" anchor="ctr"/>
          <a:lstStyle/>
          <a:p>
            <a:pPr marL="0" indent="0">
              <a:buNone/>
            </a:pPr>
            <a:r>
              <a:rPr lang="en-US" sz="1200" b="1" kern="0" spc="150" dirty="0">
                <a:solidFill>
                  <a:srgbClr val="E61E2A"/>
                </a:solidFill>
                <a:latin typeface="Calibri" pitchFamily="34" charset="0"/>
                <a:ea typeface="Calibri" pitchFamily="34" charset="-122"/>
                <a:cs typeface="Calibri" pitchFamily="34" charset="-120"/>
              </a:rPr>
              <a:t>The issue</a:t>
            </a:r>
            <a:endParaRPr lang="en-US" sz="1200" dirty="0"/>
          </a:p>
        </p:txBody>
      </p:sp>
      <p:sp>
        <p:nvSpPr>
          <p:cNvPr id="7" name="Text 5"/>
          <p:cNvSpPr txBox="1"/>
          <p:nvPr/>
        </p:nvSpPr>
        <p:spPr>
          <a:xfrm>
            <a:off x="960120" y="2761488"/>
            <a:ext cx="4663440" cy="1463040"/>
          </a:xfrm>
          <a:prstGeom prst="rect">
            <a:avLst/>
          </a:prstGeom>
          <a:noFill/>
          <a:ln/>
        </p:spPr>
        <p:txBody>
          <a:bodyPr wrap="square" lIns="0" tIns="0" rIns="0" bIns="0" rtlCol="0" anchor="t"/>
          <a:lstStyle/>
          <a:p>
            <a:pPr marL="0" indent="0">
              <a:lnSpc>
                <a:spcPct val="125000"/>
              </a:lnSpc>
              <a:buNone/>
            </a:pPr>
            <a:r>
              <a:rPr lang="en-US" sz="1300" dirty="0">
                <a:solidFill>
                  <a:srgbClr val="C9CBE4"/>
                </a:solidFill>
                <a:latin typeface="Calibri" pitchFamily="34" charset="0"/>
                <a:ea typeface="Calibri" pitchFamily="34" charset="-122"/>
                <a:cs typeface="Calibri" pitchFamily="34" charset="-120"/>
              </a:rPr>
              <a:t>The app bundles Chromium 130 (Electron 33.4.11). Windows Update and ITS browser management do not patch it. When an advisory lands, the fix is a rebuild and a redistribution — a handful of times a year.</a:t>
            </a:r>
            <a:endParaRPr lang="en-US" sz="1300" dirty="0"/>
          </a:p>
        </p:txBody>
      </p:sp>
      <p:sp>
        <p:nvSpPr>
          <p:cNvPr id="8" name="Shape 6"/>
          <p:cNvSpPr/>
          <p:nvPr/>
        </p:nvSpPr>
        <p:spPr>
          <a:xfrm>
            <a:off x="6153912" y="2148840"/>
            <a:ext cx="5321808" cy="2240280"/>
          </a:xfrm>
          <a:prstGeom prst="roundRect">
            <a:avLst>
              <a:gd name="adj" fmla="val 2449"/>
            </a:avLst>
          </a:prstGeom>
          <a:solidFill>
            <a:srgbClr val="141468"/>
          </a:solidFill>
          <a:ln w="9525">
            <a:solidFill>
              <a:srgbClr val="D8DAE6"/>
            </a:solidFill>
            <a:prstDash val="solid"/>
          </a:ln>
        </p:spPr>
      </p:sp>
      <p:sp>
        <p:nvSpPr>
          <p:cNvPr id="9" name="Text 7"/>
          <p:cNvSpPr txBox="1"/>
          <p:nvPr/>
        </p:nvSpPr>
        <p:spPr>
          <a:xfrm>
            <a:off x="6519672" y="2377440"/>
            <a:ext cx="4572000" cy="320040"/>
          </a:xfrm>
          <a:prstGeom prst="rect">
            <a:avLst/>
          </a:prstGeom>
          <a:noFill/>
          <a:ln/>
        </p:spPr>
        <p:txBody>
          <a:bodyPr wrap="square" lIns="0" tIns="0" rIns="0" bIns="0" rtlCol="0" anchor="ctr"/>
          <a:lstStyle/>
          <a:p>
            <a:pPr marL="0" indent="0">
              <a:buNone/>
            </a:pPr>
            <a:r>
              <a:rPr lang="en-US" sz="1200" b="1" kern="0" spc="150" dirty="0">
                <a:solidFill>
                  <a:srgbClr val="E61E2A"/>
                </a:solidFill>
                <a:latin typeface="Calibri" pitchFamily="34" charset="0"/>
                <a:ea typeface="Calibri" pitchFamily="34" charset="-122"/>
                <a:cs typeface="Calibri" pitchFamily="34" charset="-120"/>
              </a:rPr>
              <a:t>What limits the exposure</a:t>
            </a:r>
            <a:endParaRPr lang="en-US" sz="1200" dirty="0"/>
          </a:p>
        </p:txBody>
      </p:sp>
      <p:sp>
        <p:nvSpPr>
          <p:cNvPr id="10" name="Text 8"/>
          <p:cNvSpPr txBox="1"/>
          <p:nvPr/>
        </p:nvSpPr>
        <p:spPr>
          <a:xfrm>
            <a:off x="6519672" y="2761488"/>
            <a:ext cx="4663440" cy="1463040"/>
          </a:xfrm>
          <a:prstGeom prst="rect">
            <a:avLst/>
          </a:prstGeom>
          <a:noFill/>
          <a:ln/>
        </p:spPr>
        <p:txBody>
          <a:bodyPr wrap="square" lIns="0" tIns="0" rIns="0" bIns="0" rtlCol="0" anchor="t"/>
          <a:lstStyle/>
          <a:p>
            <a:pPr marL="0" indent="0">
              <a:lnSpc>
                <a:spcPct val="125000"/>
              </a:lnSpc>
              <a:buNone/>
            </a:pPr>
            <a:r>
              <a:rPr lang="en-US" sz="1300" dirty="0">
                <a:solidFill>
                  <a:srgbClr val="C9CBE4"/>
                </a:solidFill>
                <a:latin typeface="Calibri" pitchFamily="34" charset="0"/>
                <a:ea typeface="Calibri" pitchFamily="34" charset="-122"/>
                <a:cs typeface="Calibri" pitchFamily="34" charset="-120"/>
              </a:rPr>
              <a:t>The app loads no remote content of any kind and renders nothing the user has not opened from their own disk. The usual route to a browser-engine exploit — hostile content arriving over the network — does not exist here.</a:t>
            </a:r>
            <a:endParaRPr lang="en-US" sz="1300" dirty="0"/>
          </a:p>
        </p:txBody>
      </p:sp>
      <p:sp>
        <p:nvSpPr>
          <p:cNvPr id="11" name="Shape 9"/>
          <p:cNvSpPr/>
          <p:nvPr/>
        </p:nvSpPr>
        <p:spPr>
          <a:xfrm>
            <a:off x="594360" y="4617720"/>
            <a:ext cx="10881360" cy="1143000"/>
          </a:xfrm>
          <a:prstGeom prst="roundRect">
            <a:avLst>
              <a:gd name="adj" fmla="val 4800"/>
            </a:avLst>
          </a:prstGeom>
          <a:solidFill>
            <a:srgbClr val="E61E2A"/>
          </a:solidFill>
          <a:ln w="9525">
            <a:solidFill>
              <a:srgbClr val="D8DAE6"/>
            </a:solidFill>
            <a:prstDash val="solid"/>
          </a:ln>
        </p:spPr>
      </p:sp>
      <p:sp>
        <p:nvSpPr>
          <p:cNvPr id="12" name="Text 10"/>
          <p:cNvSpPr txBox="1"/>
          <p:nvPr/>
        </p:nvSpPr>
        <p:spPr>
          <a:xfrm>
            <a:off x="1005840" y="4846320"/>
            <a:ext cx="10058400" cy="731520"/>
          </a:xfrm>
          <a:prstGeom prst="rect">
            <a:avLst/>
          </a:prstGeom>
          <a:noFill/>
          <a:ln/>
        </p:spPr>
        <p:txBody>
          <a:bodyPr wrap="square" lIns="0" tIns="0" rIns="0" bIns="0" rtlCol="0" anchor="ctr"/>
          <a:lstStyle/>
          <a:p>
            <a:pPr marL="0" indent="0">
              <a:lnSpc>
                <a:spcPct val="120000"/>
              </a:lnSpc>
              <a:buNone/>
            </a:pPr>
            <a:r>
              <a:rPr lang="en-US" sz="1400" b="1" dirty="0">
                <a:solidFill>
                  <a:srgbClr val="FFFFFF"/>
                </a:solidFill>
                <a:latin typeface="Calibri" pitchFamily="34" charset="0"/>
                <a:ea typeface="Calibri" pitchFamily="34" charset="-122"/>
                <a:cs typeface="Calibri" pitchFamily="34" charset="-120"/>
              </a:rPr>
              <a:t>If that obligation is not acceptable, the identical application runs as a static site inside the browser ITS already manages and patches — with no runtime of our own to review.</a:t>
            </a:r>
            <a:endParaRPr lang="en-US" sz="1400" dirty="0"/>
          </a:p>
        </p:txBody>
      </p:sp>
      <p:pic>
        <p:nvPicPr>
          <p:cNvPr id="13" name="Image 0" descr="C:\Users\nguye\AppData\Local\Temp\claude\E--WORK-OFFLINE-apps-Adflow\c4dbe0b3-8f3b-4a26-ba73-6ba5f8057916\scratchpad\brand\rmit-white.png"/>
          <p:cNvPicPr>
            <a:picLocks noChangeAspect="1"/>
          </p:cNvPicPr>
          <p:nvPr/>
        </p:nvPicPr>
        <p:blipFill>
          <a:blip r:embed="rId3"/>
          <a:stretch>
            <a:fillRect/>
          </a:stretch>
        </p:blipFill>
        <p:spPr>
          <a:xfrm>
            <a:off x="594360" y="6272784"/>
            <a:ext cx="841248" cy="292033"/>
          </a:xfrm>
          <a:prstGeom prst="rect">
            <a:avLst/>
          </a:prstGeom>
        </p:spPr>
      </p:pic>
      <p:sp>
        <p:nvSpPr>
          <p:cNvPr id="14" name="Text 11"/>
          <p:cNvSpPr txBox="1"/>
          <p:nvPr/>
        </p:nvSpPr>
        <p:spPr>
          <a:xfrm>
            <a:off x="1572768" y="6309360"/>
            <a:ext cx="6400800" cy="256032"/>
          </a:xfrm>
          <a:prstGeom prst="rect">
            <a:avLst/>
          </a:prstGeom>
          <a:noFill/>
          <a:ln/>
        </p:spPr>
        <p:txBody>
          <a:bodyPr wrap="square" lIns="0" tIns="0" rIns="0" bIns="0" rtlCol="0" anchor="ctr"/>
          <a:lstStyle/>
          <a:p>
            <a:pPr marL="0" indent="0">
              <a:buNone/>
            </a:pPr>
            <a:r>
              <a:rPr lang="en-US" sz="900" dirty="0">
                <a:solidFill>
                  <a:srgbClr val="8E90B4"/>
                </a:solidFill>
                <a:latin typeface="Calibri" pitchFamily="34" charset="0"/>
                <a:ea typeface="Calibri" pitchFamily="34" charset="-122"/>
                <a:cs typeface="Calibri" pitchFamily="34" charset="-120"/>
              </a:rPr>
              <a:t>Adflow  ·  v0.61.1  ·  ITS review</a:t>
            </a:r>
            <a:endParaRPr lang="en-US" sz="900" dirty="0"/>
          </a:p>
        </p:txBody>
      </p:sp>
      <p:sp>
        <p:nvSpPr>
          <p:cNvPr id="15" name="Text 12"/>
          <p:cNvSpPr txBox="1"/>
          <p:nvPr/>
        </p:nvSpPr>
        <p:spPr>
          <a:xfrm>
            <a:off x="11064240" y="6309360"/>
            <a:ext cx="502920" cy="256032"/>
          </a:xfrm>
          <a:prstGeom prst="rect">
            <a:avLst/>
          </a:prstGeom>
          <a:noFill/>
          <a:ln/>
        </p:spPr>
        <p:txBody>
          <a:bodyPr wrap="square" lIns="0" tIns="0" rIns="0" bIns="0" rtlCol="0" anchor="ctr"/>
          <a:lstStyle/>
          <a:p>
            <a:pPr marL="0" indent="0" algn="r">
              <a:buNone/>
            </a:pPr>
            <a:r>
              <a:rPr lang="en-US" sz="900" dirty="0">
                <a:solidFill>
                  <a:srgbClr val="8E90B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46304"/>
            <a:ext cx="10972800" cy="274320"/>
          </a:xfrm>
          <a:prstGeom prst="rect">
            <a:avLst/>
          </a:prstGeom>
          <a:noFill/>
          <a:ln/>
        </p:spPr>
        <p:txBody>
          <a:bodyPr wrap="square" lIns="0" tIns="0" rIns="0" bIns="0" rtlCol="0" anchor="ctr"/>
          <a:lstStyle/>
          <a:p>
            <a:pPr marL="0" indent="0" algn="l">
              <a:buNone/>
            </a:pPr>
            <a:r>
              <a:rPr lang="en-US" sz="1100" b="1" kern="0" spc="200" dirty="0">
                <a:solidFill>
                  <a:srgbClr val="E61E2A"/>
                </a:solidFill>
                <a:latin typeface="Calibri" pitchFamily="34" charset="0"/>
                <a:ea typeface="Calibri" pitchFamily="34" charset="-122"/>
                <a:cs typeface="Calibri" pitchFamily="34" charset="-120"/>
              </a:rPr>
              <a:t>KNOWN GAPS</a:t>
            </a:r>
            <a:endParaRPr lang="en-US" sz="1100" dirty="0"/>
          </a:p>
        </p:txBody>
      </p:sp>
      <p:sp>
        <p:nvSpPr>
          <p:cNvPr id="3" name="Text 1"/>
          <p:cNvSpPr txBox="1"/>
          <p:nvPr/>
        </p:nvSpPr>
        <p:spPr>
          <a:xfrm>
            <a:off x="594360" y="411480"/>
            <a:ext cx="10972800" cy="685800"/>
          </a:xfrm>
          <a:prstGeom prst="rect">
            <a:avLst/>
          </a:prstGeom>
          <a:noFill/>
          <a:ln/>
        </p:spPr>
        <p:txBody>
          <a:bodyPr wrap="square" lIns="0" tIns="0" rIns="0" bIns="0" rtlCol="0" anchor="ctr"/>
          <a:lstStyle/>
          <a:p>
            <a:pPr marL="0" indent="0" algn="l">
              <a:buNone/>
            </a:pPr>
            <a:r>
              <a:rPr lang="en-US" sz="3400" b="1" dirty="0">
                <a:solidFill>
                  <a:srgbClr val="000054"/>
                </a:solidFill>
                <a:latin typeface="Cambria" pitchFamily="34" charset="0"/>
                <a:ea typeface="Cambria" pitchFamily="34" charset="-122"/>
                <a:cs typeface="Cambria" pitchFamily="34" charset="-120"/>
              </a:rPr>
              <a:t>Stated openly, with their status</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 y="2011680"/>
          <a:ext cx="10881360" cy="2286000"/>
        </p:xfrm>
        <a:graphic>
          <a:graphicData uri="http://schemas.openxmlformats.org/drawingml/2006/table">
            <a:tbl>
              <a:tblPr/>
              <a:tblGrid>
                <a:gridCol w="301752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solidFill>
                      <a:srgbClr val="00005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Effect</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solidFill>
                      <a:srgbClr val="00005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solidFill>
                      <a:srgbClr val="000054"/>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Binaries are not code-signed</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Windows warns on download; macOS blocks it outright</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Needs a certificate — our main ask</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Chromium version is pinned</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Not patched by ITS browser management</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Rebuild and redistribute on advisories</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Build tooling reports findings</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None reach users; shipped scope is zero</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Build-machine hygiene, tracked</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macOS build not yet produced</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Mac users build locally from source today</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tc>
                  <a:txBody>
                    <a:bodyPr/>
                    <a:lstStyle/>
                    <a:p>
                      <a:pPr marL="0" indent="0">
                        <a:buNone/>
                      </a:pPr>
                      <a:r>
                        <a:rPr lang="en-US" sz="1200" dirty="0">
                          <a:solidFill>
                            <a:srgbClr val="33333B"/>
                          </a:solidFill>
                          <a:latin typeface="Calibri" pitchFamily="34" charset="0"/>
                          <a:ea typeface="Calibri" pitchFamily="34" charset="-122"/>
                          <a:cs typeface="Calibri" pitchFamily="34" charset="-120"/>
                        </a:rPr>
                        <a:t>Needs an Apple Developer account</a:t>
                      </a:r>
                      <a:endParaRPr lang="en-US" sz="1200" dirty="0">
                        <a:latin typeface="Calibri" charset="0"/>
                        <a:ea typeface="Calibri" charset="0"/>
                        <a:cs typeface="Calibri" charset="0"/>
                      </a:endParaRPr>
                    </a:p>
                  </a:txBody>
                  <a:tcPr marL="76200" marR="76200" marT="76200" marB="76200" anchor="ctr">
                    <a:lnL w="9525" cap="flat" cmpd="sng" algn="ctr">
                      <a:solidFill>
                        <a:srgbClr val="D8DAE6"/>
                      </a:solidFill>
                      <a:prstDash val="solid"/>
                      <a:round/>
                      <a:headEnd type="none" w="med" len="med"/>
                      <a:tailEnd type="none" w="med" len="med"/>
                    </a:lnL>
                    <a:lnR w="9525" cap="flat" cmpd="sng" algn="ctr">
                      <a:solidFill>
                        <a:srgbClr val="D8DAE6"/>
                      </a:solidFill>
                      <a:prstDash val="solid"/>
                      <a:round/>
                      <a:headEnd type="none" w="med" len="med"/>
                      <a:tailEnd type="none" w="med" len="med"/>
                    </a:lnR>
                    <a:lnT w="9525" cap="flat" cmpd="sng" algn="ctr">
                      <a:solidFill>
                        <a:srgbClr val="D8DAE6"/>
                      </a:solidFill>
                      <a:prstDash val="solid"/>
                      <a:round/>
                      <a:headEnd type="none" w="med" len="med"/>
                      <a:tailEnd type="none" w="med" len="med"/>
                    </a:lnT>
                    <a:lnB w="9525" cap="flat" cmpd="sng" algn="ctr">
                      <a:solidFill>
                        <a:srgbClr val="D8DAE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594360" y="4892040"/>
            <a:ext cx="10881360" cy="914400"/>
          </a:xfrm>
          <a:prstGeom prst="roundRect">
            <a:avLst>
              <a:gd name="adj" fmla="val 6000"/>
            </a:avLst>
          </a:prstGeom>
          <a:solidFill>
            <a:srgbClr val="F4F5F9"/>
          </a:solidFill>
          <a:ln w="9525">
            <a:solidFill>
              <a:srgbClr val="D8DAE6"/>
            </a:solidFill>
            <a:prstDash val="solid"/>
          </a:ln>
        </p:spPr>
      </p:sp>
      <p:sp>
        <p:nvSpPr>
          <p:cNvPr id="6" name="Text 3"/>
          <p:cNvSpPr txBox="1"/>
          <p:nvPr/>
        </p:nvSpPr>
        <p:spPr>
          <a:xfrm>
            <a:off x="960120" y="5120640"/>
            <a:ext cx="10149840" cy="457200"/>
          </a:xfrm>
          <a:prstGeom prst="rect">
            <a:avLst/>
          </a:prstGeom>
          <a:noFill/>
          <a:ln/>
        </p:spPr>
        <p:txBody>
          <a:bodyPr wrap="square" lIns="0" tIns="0" rIns="0" bIns="0" rtlCol="0" anchor="t"/>
          <a:lstStyle/>
          <a:p>
            <a:pPr marL="0" indent="0">
              <a:buNone/>
            </a:pPr>
            <a:r>
              <a:rPr lang="en-US" sz="1300" b="1" dirty="0">
                <a:solidFill>
                  <a:srgbClr val="000054"/>
                </a:solidFill>
                <a:latin typeface="Calibri" pitchFamily="34" charset="0"/>
                <a:ea typeface="Calibri" pitchFamily="34" charset="-122"/>
                <a:cs typeface="Calibri" pitchFamily="34" charset="-120"/>
              </a:rPr>
              <a:t>Supporting documents in the repository:  SECURITY.md  ·  DEPENDENCIES.md  ·  lib/THIRD-PARTY-NOTICES.txt</a:t>
            </a:r>
            <a:endParaRPr lang="en-US" sz="1300" dirty="0"/>
          </a:p>
        </p:txBody>
      </p:sp>
      <p:pic>
        <p:nvPicPr>
          <p:cNvPr id="7" name="Image 0" descr="C:\Users\nguye\AppData\Local\Temp\claude\E--WORK-OFFLINE-apps-Adflow\c4dbe0b3-8f3b-4a26-ba73-6ba5f8057916\scratchpad\brand\rmit-full.png"/>
          <p:cNvPicPr>
            <a:picLocks noChangeAspect="1"/>
          </p:cNvPicPr>
          <p:nvPr/>
        </p:nvPicPr>
        <p:blipFill>
          <a:blip r:embed="rId3"/>
          <a:stretch>
            <a:fillRect/>
          </a:stretch>
        </p:blipFill>
        <p:spPr>
          <a:xfrm>
            <a:off x="594360" y="6272784"/>
            <a:ext cx="841248" cy="292033"/>
          </a:xfrm>
          <a:prstGeom prst="rect">
            <a:avLst/>
          </a:prstGeom>
        </p:spPr>
      </p:pic>
      <p:sp>
        <p:nvSpPr>
          <p:cNvPr id="8" name="Text 4"/>
          <p:cNvSpPr txBox="1"/>
          <p:nvPr/>
        </p:nvSpPr>
        <p:spPr>
          <a:xfrm>
            <a:off x="1572768" y="6309360"/>
            <a:ext cx="6400800" cy="256032"/>
          </a:xfrm>
          <a:prstGeom prst="rect">
            <a:avLst/>
          </a:prstGeom>
          <a:noFill/>
          <a:ln/>
        </p:spPr>
        <p:txBody>
          <a:bodyPr wrap="square" lIns="0" tIns="0" rIns="0" bIns="0" rtlCol="0" anchor="ctr"/>
          <a:lstStyle/>
          <a:p>
            <a:pPr marL="0" indent="0">
              <a:buNone/>
            </a:pPr>
            <a:r>
              <a:rPr lang="en-US" sz="900" dirty="0">
                <a:solidFill>
                  <a:srgbClr val="9C9FB4"/>
                </a:solidFill>
                <a:latin typeface="Calibri" pitchFamily="34" charset="0"/>
                <a:ea typeface="Calibri" pitchFamily="34" charset="-122"/>
                <a:cs typeface="Calibri" pitchFamily="34" charset="-120"/>
              </a:rPr>
              <a:t>Adflow  ·  v0.61.1  ·  ITS review</a:t>
            </a:r>
            <a:endParaRPr lang="en-US" sz="900" dirty="0"/>
          </a:p>
        </p:txBody>
      </p:sp>
      <p:sp>
        <p:nvSpPr>
          <p:cNvPr id="9" name="Text 5"/>
          <p:cNvSpPr txBox="1"/>
          <p:nvPr/>
        </p:nvSpPr>
        <p:spPr>
          <a:xfrm>
            <a:off x="11064240" y="6309360"/>
            <a:ext cx="502920" cy="256032"/>
          </a:xfrm>
          <a:prstGeom prst="rect">
            <a:avLst/>
          </a:prstGeom>
          <a:noFill/>
          <a:ln/>
        </p:spPr>
        <p:txBody>
          <a:bodyPr wrap="square" lIns="0" tIns="0" rIns="0" bIns="0" rtlCol="0" anchor="ctr"/>
          <a:lstStyle/>
          <a:p>
            <a:pPr marL="0" indent="0" algn="r">
              <a:buNone/>
            </a:pPr>
            <a:r>
              <a:rPr lang="en-US" sz="900" dirty="0">
                <a:solidFill>
                  <a:srgbClr val="9C9FB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Recap">
    <p:bg>
      <p:bgPr>
        <a:solidFill>
          <a:srgbClr val="000054"/>
        </a:solidFill>
        <a:effectLst/>
      </p:bgPr>
    </p:bg>
    <p:spTree>
      <p:nvGrpSpPr>
        <p:cNvPr id="1" name=""/>
        <p:cNvGrpSpPr/>
        <p:nvPr/>
      </p:nvGrpSpPr>
      <p:grpSpPr>
        <a:xfrm>
          <a:off x="0" y="0"/>
          <a:ext cx="0" cy="0"/>
          <a:chOff x="0" y="0"/>
          <a:chExt cx="0" cy="0"/>
        </a:xfrm>
      </p:grpSpPr>
      <p:pic>
        <p:nvPicPr>
          <p:cNvPr id="2" name="Image 0" descr="C:\Users\nguye\AppData\Local\Temp\claude\E--WORK-OFFLINE-apps-Adflow\c4dbe0b3-8f3b-4a26-ba73-6ba5f8057916\scratchpad\brand\pixel-red.png"/>
          <p:cNvPicPr>
            <a:picLocks noChangeAspect="1"/>
          </p:cNvPicPr>
          <p:nvPr/>
        </p:nvPicPr>
        <p:blipFill>
          <a:blip r:embed="rId3">
            <a:alphaModFix amt="22000"/>
          </a:blip>
          <a:stretch>
            <a:fillRect/>
          </a:stretch>
        </p:blipFill>
        <p:spPr>
          <a:xfrm>
            <a:off x="-2103120" y="3200400"/>
            <a:ext cx="3840480" cy="3750869"/>
          </a:xfrm>
          <a:prstGeom prst="rect">
            <a:avLst/>
          </a:prstGeom>
        </p:spPr>
      </p:pic>
      <p:sp>
        <p:nvSpPr>
          <p:cNvPr id="3" name="Text 3"/>
          <p:cNvSpPr txBox="1"/>
          <p:nvPr/>
        </p:nvSpPr>
        <p:spPr>
          <a:xfrm>
            <a:off x="594360" y="146304"/>
            <a:ext cx="10881360" cy="274320"/>
          </a:xfrm>
          <a:prstGeom prst="rect">
            <a:avLst/>
          </a:prstGeom>
          <a:noFill/>
          <a:ln/>
        </p:spPr>
        <p:txBody>
          <a:bodyPr wrap="square" lIns="0" tIns="0" rIns="0" bIns="0" rtlCol="0" anchor="ctr"/>
          <a:lstStyle/>
          <a:p>
            <a:pPr marL="0" indent="0" algn="l">
              <a:buNone/>
            </a:pPr>
            <a:r>
              <a:rPr lang="en-US" sz="1100" b="1" spc="200" dirty="0">
                <a:solidFill>
                  <a:srgbClr val="E61E2A"/>
                </a:solidFill>
                <a:latin typeface="Calibri" pitchFamily="34" charset="0"/>
                <a:ea typeface="Calibri" pitchFamily="34" charset="-122"/>
                <a:cs typeface="Calibri" pitchFamily="34" charset="-120"/>
              </a:rPr>
              <a:t>RECAP</a:t>
            </a:r>
            <a:endParaRPr lang="en-US" sz="1100" dirty="0"/>
          </a:p>
        </p:txBody>
      </p:sp>
      <p:sp>
        <p:nvSpPr>
          <p:cNvPr id="4" name="Text 4"/>
          <p:cNvSpPr txBox="1"/>
          <p:nvPr/>
        </p:nvSpPr>
        <p:spPr>
          <a:xfrm>
            <a:off x="594360" y="457200"/>
            <a:ext cx="1088136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Where Adflow stands</a:t>
            </a:r>
            <a:endParaRPr lang="en-US" sz="3600" dirty="0"/>
          </a:p>
        </p:txBody>
      </p:sp>
      <p:sp>
        <p:nvSpPr>
          <p:cNvPr id="5" name="Shape 5"/>
          <p:cNvSpPr/>
          <p:nvPr/>
        </p:nvSpPr>
        <p:spPr>
          <a:xfrm>
            <a:off x="594360" y="1417320"/>
            <a:ext cx="5349240" cy="1600200"/>
          </a:xfrm>
          <a:prstGeom prst="roundRect">
            <a:avLst>
              <a:gd name="adj" fmla="val 4348"/>
            </a:avLst>
          </a:prstGeom>
          <a:solidFill>
            <a:srgbClr val="141468"/>
          </a:solidFill>
          <a:ln w="9525">
            <a:solidFill>
              <a:srgbClr val="D8DAE6"/>
            </a:solidFill>
            <a:prstDash val="solid"/>
          </a:ln>
        </p:spPr>
      </p:sp>
      <p:sp>
        <p:nvSpPr>
          <p:cNvPr id="6" name="Shape 6"/>
          <p:cNvSpPr/>
          <p:nvPr/>
        </p:nvSpPr>
        <p:spPr>
          <a:xfrm>
            <a:off x="868680" y="1673352"/>
            <a:ext cx="338328" cy="338328"/>
          </a:xfrm>
          <a:prstGeom prst="ellipse">
            <a:avLst/>
          </a:prstGeom>
          <a:solidFill>
            <a:srgbClr val="E61E2A"/>
          </a:solidFill>
          <a:ln w="12700">
            <a:solidFill>
              <a:srgbClr val="E61E2A"/>
            </a:solidFill>
            <a:prstDash val="solid"/>
          </a:ln>
        </p:spPr>
      </p:sp>
      <p:sp>
        <p:nvSpPr>
          <p:cNvPr id="7" name="Text 7"/>
          <p:cNvSpPr txBox="1"/>
          <p:nvPr/>
        </p:nvSpPr>
        <p:spPr>
          <a:xfrm>
            <a:off x="868680" y="1673352"/>
            <a:ext cx="338328" cy="3383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8"/>
          <p:cNvSpPr txBox="1"/>
          <p:nvPr/>
        </p:nvSpPr>
        <p:spPr>
          <a:xfrm>
            <a:off x="1408176" y="1691640"/>
            <a:ext cx="4261104" cy="301752"/>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What it is</a:t>
            </a:r>
            <a:endParaRPr lang="en-US" sz="1600" dirty="0"/>
          </a:p>
        </p:txBody>
      </p:sp>
      <p:sp>
        <p:nvSpPr>
          <p:cNvPr id="9" name="Text 9"/>
          <p:cNvSpPr txBox="1"/>
          <p:nvPr/>
        </p:nvSpPr>
        <p:spPr>
          <a:xfrm>
            <a:off x="1408176" y="2084832"/>
            <a:ext cx="4261104" cy="777240"/>
          </a:xfrm>
          <a:prstGeom prst="rect">
            <a:avLst/>
          </a:prstGeom>
          <a:noFill/>
          <a:ln/>
        </p:spPr>
        <p:txBody>
          <a:bodyPr wrap="square" lIns="0" tIns="0" rIns="0" bIns="0" rtlCol="0" anchor="t"/>
          <a:lstStyle/>
          <a:p>
            <a:pPr marL="0" indent="0" algn="l">
              <a:lnSpc>
                <a:spcPct val="115000"/>
              </a:lnSpc>
              <a:buNone/>
            </a:pPr>
            <a:r>
              <a:rPr lang="en-US" sz="1250" dirty="0">
                <a:solidFill>
                  <a:srgbClr val="AFB2D4"/>
                </a:solidFill>
                <a:latin typeface="Calibri" pitchFamily="34" charset="0"/>
                <a:ea typeface="Calibri" pitchFamily="34" charset="-122"/>
                <a:cs typeface="Calibri" pitchFamily="34" charset="-120"/>
              </a:rPr>
              <a:t>An in-house HTML5 display-ad builder with no backend, no accounts and no network traffic. Everything stays on the user’s machine.</a:t>
            </a:r>
            <a:endParaRPr lang="en-US" sz="1250" dirty="0"/>
          </a:p>
        </p:txBody>
      </p:sp>
      <p:sp>
        <p:nvSpPr>
          <p:cNvPr id="10" name="Shape 10"/>
          <p:cNvSpPr/>
          <p:nvPr/>
        </p:nvSpPr>
        <p:spPr>
          <a:xfrm>
            <a:off x="6126480" y="1417320"/>
            <a:ext cx="5349240" cy="1600200"/>
          </a:xfrm>
          <a:prstGeom prst="roundRect">
            <a:avLst>
              <a:gd name="adj" fmla="val 4348"/>
            </a:avLst>
          </a:prstGeom>
          <a:solidFill>
            <a:srgbClr val="141468"/>
          </a:solidFill>
          <a:ln w="9525">
            <a:solidFill>
              <a:srgbClr val="D8DAE6"/>
            </a:solidFill>
            <a:prstDash val="solid"/>
          </a:ln>
        </p:spPr>
      </p:sp>
      <p:sp>
        <p:nvSpPr>
          <p:cNvPr id="11" name="Shape 11"/>
          <p:cNvSpPr/>
          <p:nvPr/>
        </p:nvSpPr>
        <p:spPr>
          <a:xfrm>
            <a:off x="6400800" y="1673352"/>
            <a:ext cx="338328" cy="338328"/>
          </a:xfrm>
          <a:prstGeom prst="ellipse">
            <a:avLst/>
          </a:prstGeom>
          <a:solidFill>
            <a:srgbClr val="E61E2A"/>
          </a:solidFill>
          <a:ln w="12700">
            <a:solidFill>
              <a:srgbClr val="E61E2A"/>
            </a:solidFill>
            <a:prstDash val="solid"/>
          </a:ln>
        </p:spPr>
      </p:sp>
      <p:sp>
        <p:nvSpPr>
          <p:cNvPr id="12" name="Text 12"/>
          <p:cNvSpPr txBox="1"/>
          <p:nvPr/>
        </p:nvSpPr>
        <p:spPr>
          <a:xfrm>
            <a:off x="6400800" y="1673352"/>
            <a:ext cx="338328" cy="3383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3"/>
          <p:cNvSpPr txBox="1"/>
          <p:nvPr/>
        </p:nvSpPr>
        <p:spPr>
          <a:xfrm>
            <a:off x="6940296" y="1691640"/>
            <a:ext cx="4261104" cy="301752"/>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How it is delivered</a:t>
            </a:r>
            <a:endParaRPr lang="en-US" sz="1600" dirty="0"/>
          </a:p>
        </p:txBody>
      </p:sp>
      <p:sp>
        <p:nvSpPr>
          <p:cNvPr id="14" name="Text 14"/>
          <p:cNvSpPr txBox="1"/>
          <p:nvPr/>
        </p:nvSpPr>
        <p:spPr>
          <a:xfrm>
            <a:off x="6940296" y="2084832"/>
            <a:ext cx="4261104" cy="777240"/>
          </a:xfrm>
          <a:prstGeom prst="rect">
            <a:avLst/>
          </a:prstGeom>
          <a:noFill/>
          <a:ln/>
        </p:spPr>
        <p:txBody>
          <a:bodyPr wrap="square" lIns="0" tIns="0" rIns="0" bIns="0" rtlCol="0" anchor="t"/>
          <a:lstStyle/>
          <a:p>
            <a:pPr marL="0" indent="0" algn="l">
              <a:lnSpc>
                <a:spcPct val="115000"/>
              </a:lnSpc>
              <a:buNone/>
            </a:pPr>
            <a:r>
              <a:rPr lang="en-US" sz="1250" dirty="0">
                <a:solidFill>
                  <a:srgbClr val="AFB2D4"/>
                </a:solidFill>
                <a:latin typeface="Calibri" pitchFamily="34" charset="0"/>
                <a:ea typeface="Calibri" pitchFamily="34" charset="-122"/>
                <a:cs typeface="Calibri" pitchFamily="34" charset="-120"/>
              </a:rPr>
              <a:t>A portable desktop app for staff: Windows today, macOS in testing. The same code runs in a Docker container or on any static host.</a:t>
            </a:r>
            <a:endParaRPr lang="en-US" sz="1250" dirty="0"/>
          </a:p>
        </p:txBody>
      </p:sp>
      <p:sp>
        <p:nvSpPr>
          <p:cNvPr id="15" name="Shape 15"/>
          <p:cNvSpPr/>
          <p:nvPr/>
        </p:nvSpPr>
        <p:spPr>
          <a:xfrm>
            <a:off x="594360" y="3200400"/>
            <a:ext cx="5349240" cy="1600200"/>
          </a:xfrm>
          <a:prstGeom prst="roundRect">
            <a:avLst>
              <a:gd name="adj" fmla="val 4348"/>
            </a:avLst>
          </a:prstGeom>
          <a:solidFill>
            <a:srgbClr val="141468"/>
          </a:solidFill>
          <a:ln w="9525">
            <a:solidFill>
              <a:srgbClr val="D8DAE6"/>
            </a:solidFill>
            <a:prstDash val="solid"/>
          </a:ln>
        </p:spPr>
      </p:sp>
      <p:sp>
        <p:nvSpPr>
          <p:cNvPr id="16" name="Shape 16"/>
          <p:cNvSpPr/>
          <p:nvPr/>
        </p:nvSpPr>
        <p:spPr>
          <a:xfrm>
            <a:off x="868680" y="3456432"/>
            <a:ext cx="338328" cy="338328"/>
          </a:xfrm>
          <a:prstGeom prst="ellipse">
            <a:avLst/>
          </a:prstGeom>
          <a:solidFill>
            <a:srgbClr val="E61E2A"/>
          </a:solidFill>
          <a:ln w="12700">
            <a:solidFill>
              <a:srgbClr val="E61E2A"/>
            </a:solidFill>
            <a:prstDash val="solid"/>
          </a:ln>
        </p:spPr>
      </p:sp>
      <p:sp>
        <p:nvSpPr>
          <p:cNvPr id="17" name="Text 17"/>
          <p:cNvSpPr txBox="1"/>
          <p:nvPr/>
        </p:nvSpPr>
        <p:spPr>
          <a:xfrm>
            <a:off x="868680" y="3456432"/>
            <a:ext cx="338328" cy="3383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8"/>
          <p:cNvSpPr txBox="1"/>
          <p:nvPr/>
        </p:nvSpPr>
        <p:spPr>
          <a:xfrm>
            <a:off x="1408176" y="3474720"/>
            <a:ext cx="4261104" cy="301752"/>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What remains open</a:t>
            </a:r>
            <a:endParaRPr lang="en-US" sz="1600" dirty="0"/>
          </a:p>
        </p:txBody>
      </p:sp>
      <p:sp>
        <p:nvSpPr>
          <p:cNvPr id="19" name="Text 19"/>
          <p:cNvSpPr txBox="1"/>
          <p:nvPr/>
        </p:nvSpPr>
        <p:spPr>
          <a:xfrm>
            <a:off x="1408176" y="3867912"/>
            <a:ext cx="4261104" cy="777240"/>
          </a:xfrm>
          <a:prstGeom prst="rect">
            <a:avLst/>
          </a:prstGeom>
          <a:noFill/>
          <a:ln/>
        </p:spPr>
        <p:txBody>
          <a:bodyPr wrap="square" lIns="0" tIns="0" rIns="0" bIns="0" rtlCol="0" anchor="t"/>
          <a:lstStyle/>
          <a:p>
            <a:pPr marL="0" indent="0" algn="l">
              <a:lnSpc>
                <a:spcPct val="115000"/>
              </a:lnSpc>
              <a:buNone/>
            </a:pPr>
            <a:r>
              <a:rPr lang="en-US" sz="1250" dirty="0">
                <a:solidFill>
                  <a:srgbClr val="AFB2D4"/>
                </a:solidFill>
                <a:latin typeface="Calibri" pitchFamily="34" charset="0"/>
                <a:ea typeface="Calibri" pitchFamily="34" charset="-122"/>
                <a:cs typeface="Calibri" pitchFamily="34" charset="-120"/>
              </a:rPr>
              <a:t>Patching the bundled Chromium, code signing, and a signed macOS build. Build-tooling findings never reach users.</a:t>
            </a:r>
            <a:endParaRPr lang="en-US" sz="1250" dirty="0"/>
          </a:p>
        </p:txBody>
      </p:sp>
      <p:sp>
        <p:nvSpPr>
          <p:cNvPr id="20" name="Shape 20"/>
          <p:cNvSpPr/>
          <p:nvPr/>
        </p:nvSpPr>
        <p:spPr>
          <a:xfrm>
            <a:off x="6126480" y="3200400"/>
            <a:ext cx="5349240" cy="1600200"/>
          </a:xfrm>
          <a:prstGeom prst="roundRect">
            <a:avLst>
              <a:gd name="adj" fmla="val 4348"/>
            </a:avLst>
          </a:prstGeom>
          <a:solidFill>
            <a:srgbClr val="141468"/>
          </a:solidFill>
          <a:ln w="9525">
            <a:solidFill>
              <a:srgbClr val="D8DAE6"/>
            </a:solidFill>
            <a:prstDash val="solid"/>
          </a:ln>
        </p:spPr>
      </p:sp>
      <p:sp>
        <p:nvSpPr>
          <p:cNvPr id="21" name="Shape 21"/>
          <p:cNvSpPr/>
          <p:nvPr/>
        </p:nvSpPr>
        <p:spPr>
          <a:xfrm>
            <a:off x="6400800" y="3456432"/>
            <a:ext cx="338328" cy="338328"/>
          </a:xfrm>
          <a:prstGeom prst="ellipse">
            <a:avLst/>
          </a:prstGeom>
          <a:solidFill>
            <a:srgbClr val="E61E2A"/>
          </a:solidFill>
          <a:ln w="12700">
            <a:solidFill>
              <a:srgbClr val="E61E2A"/>
            </a:solidFill>
            <a:prstDash val="solid"/>
          </a:ln>
        </p:spPr>
      </p:sp>
      <p:sp>
        <p:nvSpPr>
          <p:cNvPr id="22" name="Text 22"/>
          <p:cNvSpPr txBox="1"/>
          <p:nvPr/>
        </p:nvSpPr>
        <p:spPr>
          <a:xfrm>
            <a:off x="6400800" y="3456432"/>
            <a:ext cx="338328" cy="3383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3"/>
          <p:cNvSpPr txBox="1"/>
          <p:nvPr/>
        </p:nvSpPr>
        <p:spPr>
          <a:xfrm>
            <a:off x="6940296" y="3474720"/>
            <a:ext cx="4261104" cy="301752"/>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What we are asking for</a:t>
            </a:r>
            <a:endParaRPr lang="en-US" sz="1600" dirty="0"/>
          </a:p>
        </p:txBody>
      </p:sp>
      <p:sp>
        <p:nvSpPr>
          <p:cNvPr id="24" name="Text 24"/>
          <p:cNvSpPr txBox="1"/>
          <p:nvPr/>
        </p:nvSpPr>
        <p:spPr>
          <a:xfrm>
            <a:off x="6940296" y="3867912"/>
            <a:ext cx="4261104" cy="777240"/>
          </a:xfrm>
          <a:prstGeom prst="rect">
            <a:avLst/>
          </a:prstGeom>
          <a:noFill/>
          <a:ln/>
        </p:spPr>
        <p:txBody>
          <a:bodyPr wrap="square" lIns="0" tIns="0" rIns="0" bIns="0" rtlCol="0" anchor="t"/>
          <a:lstStyle/>
          <a:p>
            <a:pPr marL="0" indent="0" algn="l">
              <a:lnSpc>
                <a:spcPct val="115000"/>
              </a:lnSpc>
              <a:buNone/>
            </a:pPr>
            <a:r>
              <a:rPr lang="en-US" sz="1250" dirty="0">
                <a:solidFill>
                  <a:srgbClr val="AFB2D4"/>
                </a:solidFill>
                <a:latin typeface="Calibri" pitchFamily="34" charset="0"/>
                <a:ea typeface="Calibri" pitchFamily="34" charset="-122"/>
                <a:cs typeface="Calibri" pitchFamily="34" charset="-120"/>
              </a:rPr>
              <a:t>Approval for internal use, a code-signing certificate, and agreement on the patching arrangement.</a:t>
            </a:r>
            <a:endParaRPr lang="en-US" sz="1250" dirty="0"/>
          </a:p>
        </p:txBody>
      </p:sp>
      <p:sp>
        <p:nvSpPr>
          <p:cNvPr id="25" name="Shape 25">
            <a:hlinkClick r:id="rId4"/>
          </p:cNvPr>
          <p:cNvSpPr/>
          <p:nvPr/>
        </p:nvSpPr>
        <p:spPr>
          <a:xfrm>
            <a:off x="594360" y="4983480"/>
            <a:ext cx="10881360" cy="868680"/>
          </a:xfrm>
          <a:prstGeom prst="roundRect">
            <a:avLst>
              <a:gd name="adj" fmla="val 6000"/>
            </a:avLst>
          </a:prstGeom>
          <a:solidFill>
            <a:srgbClr val="FFFFFF"/>
          </a:solidFill>
          <a:ln w="9525">
            <a:solidFill>
              <a:srgbClr val="FFFFFF"/>
            </a:solidFill>
            <a:prstDash val="solid"/>
          </a:ln>
        </p:spPr>
      </p:sp>
      <p:sp>
        <p:nvSpPr>
          <p:cNvPr id="26" name="Text 26"/>
          <p:cNvSpPr txBox="1"/>
          <p:nvPr/>
        </p:nvSpPr>
        <p:spPr>
          <a:xfrm>
            <a:off x="960120" y="5129784"/>
            <a:ext cx="4572000" cy="228600"/>
          </a:xfrm>
          <a:prstGeom prst="rect">
            <a:avLst/>
          </a:prstGeom>
          <a:noFill/>
          <a:ln/>
        </p:spPr>
        <p:txBody>
          <a:bodyPr wrap="square" lIns="0" tIns="0" rIns="0" bIns="0" rtlCol="0" anchor="ctr"/>
          <a:lstStyle/>
          <a:p>
            <a:pPr marL="0" indent="0" algn="l">
              <a:buNone/>
            </a:pPr>
            <a:r>
              <a:rPr lang="en-US" sz="1000" b="1" spc="200" dirty="0">
                <a:solidFill>
                  <a:srgbClr val="E61E2A"/>
                </a:solidFill>
                <a:latin typeface="Calibri" pitchFamily="34" charset="0"/>
                <a:ea typeface="Calibri" pitchFamily="34" charset="-122"/>
                <a:cs typeface="Calibri" pitchFamily="34" charset="-120"/>
              </a:rPr>
              <a:t>SOURCE CODE AND DOCUMENTATION</a:t>
            </a:r>
            <a:endParaRPr lang="en-US" sz="1000" dirty="0"/>
          </a:p>
        </p:txBody>
      </p:sp>
      <p:sp>
        <p:nvSpPr>
          <p:cNvPr id="27" name="Text 27"/>
          <p:cNvSpPr txBox="1"/>
          <p:nvPr/>
        </p:nvSpPr>
        <p:spPr>
          <a:xfrm>
            <a:off x="960120" y="5385816"/>
            <a:ext cx="6583680" cy="338328"/>
          </a:xfrm>
          <a:prstGeom prst="rect">
            <a:avLst/>
          </a:prstGeom>
          <a:noFill/>
          <a:ln/>
        </p:spPr>
        <p:txBody>
          <a:bodyPr wrap="square" lIns="0" tIns="0" rIns="0" bIns="0" rtlCol="0" anchor="ctr"/>
          <a:lstStyle/>
          <a:p>
            <a:pPr marL="0" indent="0" algn="l">
              <a:buNone/>
            </a:pPr>
            <a:r>
              <a:rPr lang="en-US" sz="2000" b="1" dirty="0">
                <a:solidFill>
                  <a:srgbClr val="000054"/>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github.com/westmere7/Adflow_local</a:t>
            </a:r>
            <a:endParaRPr lang="en-US" sz="2000" dirty="0"/>
          </a:p>
        </p:txBody>
      </p:sp>
      <p:sp>
        <p:nvSpPr>
          <p:cNvPr id="28" name="Text 28"/>
          <p:cNvSpPr txBox="1"/>
          <p:nvPr/>
        </p:nvSpPr>
        <p:spPr>
          <a:xfrm>
            <a:off x="7726680" y="5129784"/>
            <a:ext cx="3383280" cy="594360"/>
          </a:xfrm>
          <a:prstGeom prst="rect">
            <a:avLst/>
          </a:prstGeom>
          <a:noFill/>
          <a:ln/>
        </p:spPr>
        <p:txBody>
          <a:bodyPr wrap="square" lIns="0" tIns="0" rIns="0" bIns="0" rtlCol="0" anchor="ctr"/>
          <a:lstStyle/>
          <a:p>
            <a:pPr marL="0" indent="0" algn="r">
              <a:lnSpc>
                <a:spcPct val="115000"/>
              </a:lnSpc>
              <a:buNone/>
            </a:pPr>
            <a:r>
              <a:rPr lang="en-US" sz="1100" dirty="0">
                <a:solidFill>
                  <a:srgbClr val="4A4C78"/>
                </a:solidFill>
                <a:latin typeface="Calibri" pitchFamily="34" charset="0"/>
                <a:ea typeface="Calibri" pitchFamily="34" charset="-122"/>
                <a:cs typeface="Calibri" pitchFamily="34" charset="-120"/>
              </a:rPr>
              <a:t>README.md  ·  SECURITY.md</a:t>
            </a:r>
          </a:p>
          <a:p>
            <a:pPr marL="0" indent="0" algn="r">
              <a:lnSpc>
                <a:spcPct val="115000"/>
              </a:lnSpc>
              <a:buNone/>
            </a:pPr>
            <a:r>
              <a:rPr lang="en-US" sz="1100" dirty="0">
                <a:solidFill>
                  <a:srgbClr val="4A4C78"/>
                </a:solidFill>
                <a:latin typeface="Calibri" pitchFamily="34" charset="0"/>
                <a:ea typeface="Calibri" pitchFamily="34" charset="-122"/>
                <a:cs typeface="Calibri" pitchFamily="34" charset="-120"/>
              </a:rPr>
              <a:t>DEPENDENCIES.md  ·  DEPLOYMENT.md</a:t>
            </a:r>
            <a:endParaRPr lang="en-US" sz="1100" dirty="0"/>
          </a:p>
        </p:txBody>
      </p:sp>
      <p:pic>
        <p:nvPicPr>
          <p:cNvPr id="29" name="Image 1" descr="C:\Users\nguye\AppData\Local\Temp\claude\E--WORK-OFFLINE-apps-Adflow\c4dbe0b3-8f3b-4a26-ba73-6ba5f8057916\scratchpad\brand\rmit-white.png"/>
          <p:cNvPicPr>
            <a:picLocks noChangeAspect="1"/>
          </p:cNvPicPr>
          <p:nvPr/>
        </p:nvPicPr>
        <p:blipFill>
          <a:blip r:embed="rId5"/>
          <a:stretch>
            <a:fillRect/>
          </a:stretch>
        </p:blipFill>
        <p:spPr>
          <a:xfrm>
            <a:off x="594360" y="6272784"/>
            <a:ext cx="841248" cy="292033"/>
          </a:xfrm>
          <a:prstGeom prst="rect">
            <a:avLst/>
          </a:prstGeom>
        </p:spPr>
      </p:pic>
      <p:sp>
        <p:nvSpPr>
          <p:cNvPr id="30" name="Text 30"/>
          <p:cNvSpPr txBox="1"/>
          <p:nvPr/>
        </p:nvSpPr>
        <p:spPr>
          <a:xfrm>
            <a:off x="1572768" y="6309360"/>
            <a:ext cx="6400800" cy="256032"/>
          </a:xfrm>
          <a:prstGeom prst="rect">
            <a:avLst/>
          </a:prstGeom>
          <a:noFill/>
          <a:ln/>
        </p:spPr>
        <p:txBody>
          <a:bodyPr wrap="square" lIns="0" tIns="0" rIns="0" bIns="0" rtlCol="0" anchor="ctr"/>
          <a:lstStyle/>
          <a:p>
            <a:pPr marL="0" indent="0" algn="l">
              <a:buNone/>
            </a:pPr>
            <a:r>
              <a:rPr lang="en-US" sz="900" dirty="0">
                <a:solidFill>
                  <a:srgbClr val="8E90B4"/>
                </a:solidFill>
                <a:latin typeface="Calibri" pitchFamily="34" charset="0"/>
                <a:ea typeface="Calibri" pitchFamily="34" charset="-122"/>
                <a:cs typeface="Calibri" pitchFamily="34" charset="-120"/>
              </a:rPr>
              <a:t>Adflow  ·  v0.61.1  ·  ITS review</a:t>
            </a:r>
            <a:endParaRPr lang="en-US" sz="900" dirty="0"/>
          </a:p>
        </p:txBody>
      </p:sp>
      <p:sp>
        <p:nvSpPr>
          <p:cNvPr id="31" name="Text 31"/>
          <p:cNvSpPr txBox="1"/>
          <p:nvPr/>
        </p:nvSpPr>
        <p:spPr>
          <a:xfrm>
            <a:off x="11064240" y="6309360"/>
            <a:ext cx="502920" cy="256032"/>
          </a:xfrm>
          <a:prstGeom prst="rect">
            <a:avLst/>
          </a:prstGeom>
          <a:noFill/>
          <a:ln/>
        </p:spPr>
        <p:txBody>
          <a:bodyPr wrap="square" lIns="0" tIns="0" rIns="0" bIns="0" rtlCol="0" anchor="ctr"/>
          <a:lstStyle/>
          <a:p>
            <a:pPr marL="0" indent="0" algn="r">
              <a:buNone/>
            </a:pPr>
            <a:r>
              <a:rPr lang="en-US" sz="900">
                <a:solidFill>
                  <a:srgbClr val="8E90B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1499</Words>
  <Application>Microsoft Office PowerPoint</Application>
  <PresentationFormat>Widescreen</PresentationFormat>
  <Paragraphs>190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RMIT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RMIT Adflow — ITS Review</dc:title>
  <dc:subject>PptxGenJS Presentation</dc:subject>
  <dc:creator>RMIT Adflow</dc:creator>
  <cp:lastModifiedBy>Danh Nguyen</cp:lastModifiedBy>
  <cp:revision>5</cp:revision>
  <dcterms:created xsi:type="dcterms:W3CDTF">2026-09-21T09:17:14Z</dcterms:created>
  <dcterms:modified xsi:type="dcterms:W3CDTF">2026-09-23T06:52:02Z</dcterms:modified>
</cp:coreProperties>
</file>